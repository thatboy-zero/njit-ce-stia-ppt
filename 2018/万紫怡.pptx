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notesMasterIdLst>
    <p:notesMasterId r:id="rId17"/>
  </p:notesMasterIdLst>
  <p:sldIdLst>
    <p:sldId id="256" r:id="rId2"/>
    <p:sldId id="257" r:id="rId3"/>
    <p:sldId id="264" r:id="rId4"/>
    <p:sldId id="265" r:id="rId5"/>
    <p:sldId id="270" r:id="rId6"/>
    <p:sldId id="271" r:id="rId7"/>
    <p:sldId id="258" r:id="rId8"/>
    <p:sldId id="259" r:id="rId9"/>
    <p:sldId id="260" r:id="rId10"/>
    <p:sldId id="261" r:id="rId11"/>
    <p:sldId id="262" r:id="rId12"/>
    <p:sldId id="263" r:id="rId13"/>
    <p:sldId id="266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33"/>
    <a:srgbClr val="CC9900"/>
    <a:srgbClr val="3D89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62BB4-2F27-4A8B-B637-35A1C6A4BE9B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D0F42-A613-4AFD-B3E1-141B5DCF5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40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2AA0-4755-4541-BB87-82EA1A0A4FF4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28C69FA-75DC-42B4-9EC0-495427E34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49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2AA0-4755-4541-BB87-82EA1A0A4FF4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69FA-75DC-42B4-9EC0-495427E34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082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AAC2AA0-4755-4541-BB87-82EA1A0A4FF4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28C69FA-75DC-42B4-9EC0-495427E34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176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2AA0-4755-4541-BB87-82EA1A0A4FF4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69FA-75DC-42B4-9EC0-495427E34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616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2AA0-4755-4541-BB87-82EA1A0A4FF4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69FA-75DC-42B4-9EC0-495427E34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79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2AA0-4755-4541-BB87-82EA1A0A4FF4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69FA-75DC-42B4-9EC0-495427E34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53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2AA0-4755-4541-BB87-82EA1A0A4FF4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69FA-75DC-42B4-9EC0-495427E34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55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2AA0-4755-4541-BB87-82EA1A0A4FF4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69FA-75DC-42B4-9EC0-495427E34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823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2AA0-4755-4541-BB87-82EA1A0A4FF4}" type="datetimeFigureOut">
              <a:rPr lang="zh-CN" altLang="en-US" smtClean="0"/>
              <a:t>2018/10/6</a:t>
            </a:fld>
            <a:endParaRPr lang="zh-CN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69FA-75DC-42B4-9EC0-495427E34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165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2AA0-4755-4541-BB87-82EA1A0A4FF4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69FA-75DC-42B4-9EC0-495427E34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089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2AA0-4755-4541-BB87-82EA1A0A4FF4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69FA-75DC-42B4-9EC0-495427E34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44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AAC2AA0-4755-4541-BB87-82EA1A0A4FF4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28C69FA-75DC-42B4-9EC0-495427E34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684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jp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F182D31-61F0-4205-945A-593DF455A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8AC299E-1466-43FC-9B4E-453E3C952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778001"/>
            <a:ext cx="12192000" cy="6265159"/>
          </a:xfrm>
          <a:noFill/>
        </p:spPr>
        <p:txBody>
          <a:bodyPr>
            <a:normAutofit/>
          </a:bodyPr>
          <a:lstStyle/>
          <a:p>
            <a:pPr algn="ctr"/>
            <a:r>
              <a:rPr lang="zh-CN" altLang="en-US" sz="66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看看这世界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E7E2CA-AB85-4934-B22D-1D52A83BB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94561"/>
            <a:ext cx="9144000" cy="3063240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dirty="0">
                <a:solidFill>
                  <a:srgbClr val="3D897C"/>
                </a:solidFill>
              </a:rPr>
              <a:t>你</a:t>
            </a:r>
            <a:r>
              <a:rPr lang="zh-CN" altLang="en-US" sz="3200" dirty="0">
                <a:solidFill>
                  <a:schemeClr val="accent4">
                    <a:lumMod val="75000"/>
                  </a:schemeClr>
                </a:solidFill>
              </a:rPr>
              <a:t>会</a:t>
            </a:r>
            <a:r>
              <a:rPr lang="zh-CN" altLang="en-US" sz="3200" dirty="0">
                <a:solidFill>
                  <a:srgbClr val="3D897C"/>
                </a:solidFill>
              </a:rPr>
              <a:t>不</a:t>
            </a:r>
            <a:r>
              <a:rPr lang="zh-CN" altLang="en-US" sz="3200" dirty="0">
                <a:solidFill>
                  <a:schemeClr val="accent4">
                    <a:lumMod val="50000"/>
                  </a:schemeClr>
                </a:solidFill>
              </a:rPr>
              <a:t>会</a:t>
            </a:r>
            <a:r>
              <a:rPr lang="zh-CN" altLang="en-US" sz="3200" dirty="0">
                <a:solidFill>
                  <a:srgbClr val="3D897C"/>
                </a:solidFill>
              </a:rPr>
              <a:t>心</a:t>
            </a:r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</a:rPr>
              <a:t>动</a:t>
            </a:r>
            <a:r>
              <a:rPr lang="en-US" altLang="zh-CN" sz="3200" dirty="0">
                <a:solidFill>
                  <a:srgbClr val="3D897C"/>
                </a:solidFill>
              </a:rPr>
              <a:t>?</a:t>
            </a:r>
            <a:endParaRPr lang="zh-CN" altLang="en-US" sz="3200" dirty="0">
              <a:solidFill>
                <a:srgbClr val="3D897C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7537D9-5FD7-4D2D-BF3D-4A28B9E35B3C}"/>
              </a:ext>
            </a:extLst>
          </p:cNvPr>
          <p:cNvSpPr txBox="1"/>
          <p:nvPr/>
        </p:nvSpPr>
        <p:spPr>
          <a:xfrm>
            <a:off x="5394960" y="4903739"/>
            <a:ext cx="63746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0070C0"/>
                </a:solidFill>
                <a:latin typeface="Microsoft Tai Le" panose="020B0502040204020203" pitchFamily="34" charset="0"/>
                <a:cs typeface="Microsoft Tai Le" panose="020B0502040204020203" pitchFamily="34" charset="0"/>
              </a:rPr>
              <a:t>----</a:t>
            </a:r>
            <a:r>
              <a:rPr lang="zh-CN" altLang="en-US" sz="4400" b="1" dirty="0">
                <a:solidFill>
                  <a:srgbClr val="0070C0"/>
                </a:solidFill>
                <a:latin typeface="Microsoft Tai Le" panose="020B0502040204020203" pitchFamily="34" charset="0"/>
                <a:cs typeface="Microsoft Tai Le" panose="020B0502040204020203" pitchFamily="34" charset="0"/>
              </a:rPr>
              <a:t>数媒</a:t>
            </a:r>
            <a:r>
              <a:rPr lang="en-US" altLang="zh-CN" sz="4400" b="1">
                <a:solidFill>
                  <a:srgbClr val="0070C0"/>
                </a:solidFill>
                <a:latin typeface="Microsoft Tai Le" panose="020B0502040204020203" pitchFamily="34" charset="0"/>
                <a:cs typeface="Microsoft Tai Le" panose="020B0502040204020203" pitchFamily="34" charset="0"/>
              </a:rPr>
              <a:t>182   </a:t>
            </a:r>
            <a:r>
              <a:rPr lang="zh-CN" altLang="en-US" sz="4400" b="1">
                <a:solidFill>
                  <a:srgbClr val="0070C0"/>
                </a:solidFill>
                <a:latin typeface="Microsoft Tai Le" panose="020B0502040204020203" pitchFamily="34" charset="0"/>
                <a:cs typeface="Microsoft Tai Le" panose="020B0502040204020203" pitchFamily="34" charset="0"/>
              </a:rPr>
              <a:t>万紫怡</a:t>
            </a:r>
            <a:endParaRPr lang="zh-CN" altLang="en-US" sz="4400" b="1" dirty="0">
              <a:solidFill>
                <a:srgbClr val="0070C0"/>
              </a:solidFill>
              <a:latin typeface="Microsoft Tai Le" panose="020B0502040204020203" pitchFamily="34" charset="0"/>
              <a:cs typeface="Microsoft Tai L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75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4000"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4" grpId="2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228819E1-6891-4116-A018-6147FD25F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i="1" u="sng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让我们来瞅一瞅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2175486F-BAEC-4F6E-8ECF-7536BAE34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zh-CN" altLang="en-US" dirty="0"/>
              <a:t>国内</a:t>
            </a:r>
          </a:p>
        </p:txBody>
      </p:sp>
      <p:pic>
        <p:nvPicPr>
          <p:cNvPr id="17" name="内容占位符 16">
            <a:hlinkClick r:id="rId2" action="ppaction://hlinksldjump"/>
            <a:extLst>
              <a:ext uri="{FF2B5EF4-FFF2-40B4-BE49-F238E27FC236}">
                <a16:creationId xmlns:a16="http://schemas.microsoft.com/office/drawing/2014/main" id="{D3C0C7A2-E7DD-4E1C-9B13-9F52F138BC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117" y="2935211"/>
            <a:ext cx="4754563" cy="3169708"/>
          </a:xfrm>
        </p:spPr>
      </p:pic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CF02741-C252-4D10-B55D-2E9C45030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zh-CN" altLang="en-US" dirty="0"/>
              <a:t>国外</a:t>
            </a:r>
          </a:p>
        </p:txBody>
      </p:sp>
      <p:pic>
        <p:nvPicPr>
          <p:cNvPr id="19" name="内容占位符 18">
            <a:extLst>
              <a:ext uri="{FF2B5EF4-FFF2-40B4-BE49-F238E27FC236}">
                <a16:creationId xmlns:a16="http://schemas.microsoft.com/office/drawing/2014/main" id="{A7AECDB5-07B3-4B37-8923-93B314D2129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288" y="2923735"/>
            <a:ext cx="4754562" cy="3166538"/>
          </a:xfr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5D71C5B8-FFE1-4417-986C-C7CF3382243F}"/>
              </a:ext>
            </a:extLst>
          </p:cNvPr>
          <p:cNvSpPr/>
          <p:nvPr/>
        </p:nvSpPr>
        <p:spPr>
          <a:xfrm>
            <a:off x="1187777" y="2177592"/>
            <a:ext cx="1687398" cy="5107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请戳这里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73C35C8-B534-4302-970B-ADD1E5C17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628" y="2177592"/>
            <a:ext cx="1707028" cy="5547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4EF8F5F-F161-45C8-9059-C43ECF01A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92273"/>
            <a:ext cx="1707028" cy="55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49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8EC148-5924-4639-94B5-4DC52A00F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03325"/>
            <a:ext cx="531453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中国的长城</a:t>
            </a:r>
            <a:r>
              <a:rPr lang="en-US" altLang="zh-C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-Great Wall of China </a:t>
            </a:r>
          </a:p>
        </p:txBody>
      </p:sp>
      <p:pic>
        <p:nvPicPr>
          <p:cNvPr id="6" name="内容占位符 5" descr="图片包含 雪花, 山, 户外, 天空&#10;&#10;已生成极高可信度的说明">
            <a:extLst>
              <a:ext uri="{FF2B5EF4-FFF2-40B4-BE49-F238E27FC236}">
                <a16:creationId xmlns:a16="http://schemas.microsoft.com/office/drawing/2014/main" id="{F4976E91-04D0-4F4C-8A6B-F91C82778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4" r="23107" b="-1"/>
          <a:stretch/>
        </p:blipFill>
        <p:spPr>
          <a:xfrm>
            <a:off x="6737078" y="-2"/>
            <a:ext cx="5441859" cy="5654940"/>
          </a:xfrm>
          <a:custGeom>
            <a:avLst/>
            <a:gdLst>
              <a:gd name="connsiteX0" fmla="*/ 1041368 w 5441859"/>
              <a:gd name="connsiteY0" fmla="*/ 0 h 5654940"/>
              <a:gd name="connsiteX1" fmla="*/ 5441859 w 5441859"/>
              <a:gd name="connsiteY1" fmla="*/ 0 h 5654940"/>
              <a:gd name="connsiteX2" fmla="*/ 5441859 w 5441859"/>
              <a:gd name="connsiteY2" fmla="*/ 4820612 h 5654940"/>
              <a:gd name="connsiteX3" fmla="*/ 5285166 w 5441859"/>
              <a:gd name="connsiteY3" fmla="*/ 4957981 h 5654940"/>
              <a:gd name="connsiteX4" fmla="*/ 3267719 w 5441859"/>
              <a:gd name="connsiteY4" fmla="*/ 5654940 h 5654940"/>
              <a:gd name="connsiteX5" fmla="*/ 0 w 5441859"/>
              <a:gd name="connsiteY5" fmla="*/ 2387221 h 5654940"/>
              <a:gd name="connsiteX6" fmla="*/ 957093 w 5441859"/>
              <a:gd name="connsiteY6" fmla="*/ 76595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</p:spPr>
      </p:pic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4A3045-81A5-4DD1-8D94-5046A15F8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79018"/>
            <a:ext cx="5314543" cy="33759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zh-CN" altLang="en-US" sz="2400" dirty="0"/>
              <a:t>   长城是有史以来唯一在太空中可看到的三度空间建筑物， 以现代科技来修筑都不容易， 而我国竟能建筑于两千多年前的春秋战国时代， 实在难得。 如果登临其间的雁门关、 居庸关、 古北口或山海关， 遥望我国山川的伟大形势， 将令人叹服先民开疆拓土的艰难， 而激起无限的壮志雄心 。</a:t>
            </a:r>
          </a:p>
        </p:txBody>
      </p:sp>
    </p:spTree>
    <p:extLst>
      <p:ext uri="{BB962C8B-B14F-4D97-AF65-F5344CB8AC3E}">
        <p14:creationId xmlns:p14="http://schemas.microsoft.com/office/powerpoint/2010/main" val="14204328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 descr="图片包含 树, 天空, 户外, 道路&#10;&#10;已生成极高可信度的说明">
            <a:extLst>
              <a:ext uri="{FF2B5EF4-FFF2-40B4-BE49-F238E27FC236}">
                <a16:creationId xmlns:a16="http://schemas.microsoft.com/office/drawing/2014/main" id="{A38E46C5-B94F-4F55-B6BF-5FB03A862A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"/>
          <a:stretch/>
        </p:blipFill>
        <p:spPr>
          <a:xfrm>
            <a:off x="306" y="0"/>
            <a:ext cx="12191712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0A57FA6-8568-46C9-B411-3E3899475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9" y="-34810"/>
            <a:ext cx="6085091" cy="405672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7E4BC9C-909F-41BA-8FFE-34DBADD62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60"/>
            <a:ext cx="5760720" cy="3225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3200" dirty="0">
                <a:solidFill>
                  <a:schemeClr val="tx2">
                    <a:lumMod val="90000"/>
                  </a:schemeClr>
                </a:solidFill>
              </a:rPr>
              <a:t>云南丽江</a:t>
            </a:r>
            <a:r>
              <a:rPr lang="en-US" altLang="zh-CN" sz="3200" dirty="0">
                <a:solidFill>
                  <a:schemeClr val="tx2">
                    <a:lumMod val="90000"/>
                  </a:schemeClr>
                </a:solidFill>
              </a:rPr>
              <a:t>-Lijiang Yunnan province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AE0977-B398-4FFB-8B19-38D0C07A5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5" y="2238375"/>
            <a:ext cx="4917672" cy="32872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FDE04CF-A341-495B-BBDF-8F5C645507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727" y="563154"/>
            <a:ext cx="4420701" cy="2947134"/>
          </a:xfrm>
          <a:prstGeom prst="rect">
            <a:avLst/>
          </a:prstGeom>
        </p:spPr>
      </p:pic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C18E88-98F6-41BC-A432-059302120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51468" y="543560"/>
            <a:ext cx="6085091" cy="4699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      </a:t>
            </a:r>
            <a:r>
              <a:rPr lang="zh-CN" altLang="en-US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丽江古城内的街道依山傍水修建，铺的大多都是红色角砾岩，雨季不会泥泞、旱季也不会飞灰，石上花纹图案自然雅致，与整个古城环境相得益彰。位于古城中心的四方街是丽江古城的中心，位于古城与新城交界处的大水车是丽江古城的标志，古城大水车旁有一块大屏幕，每日播放的歌曲即是古城最受欢迎最有特色的歌曲，其中</a:t>
            </a:r>
            <a:r>
              <a:rPr lang="en-US" altLang="zh-C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《</a:t>
            </a:r>
            <a:r>
              <a:rPr lang="zh-CN" altLang="en-US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纳西净地</a:t>
            </a:r>
            <a:r>
              <a:rPr lang="en-US" altLang="zh-C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》</a:t>
            </a:r>
            <a:r>
              <a:rPr lang="zh-CN" altLang="en-US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是较为出名的歌曲之一。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4B2FC97-A9B3-420D-96B2-575A5BA317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074" y="3648528"/>
            <a:ext cx="4754880" cy="318924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8932D9F-887B-4AF0-B266-D6243EF6FC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2601" y="3702343"/>
            <a:ext cx="5045195" cy="336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3725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DDF65B9-3BD0-4CA8-AB4E-C01F545EC4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8307977" cy="447721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AC49ECE-AB70-4548-A64B-CF51B90E7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9640" y="241663"/>
            <a:ext cx="3200400" cy="1737360"/>
          </a:xfrm>
        </p:spPr>
        <p:txBody>
          <a:bodyPr/>
          <a:lstStyle/>
          <a:p>
            <a:r>
              <a:rPr lang="zh-CN" altLang="en-US" dirty="0"/>
              <a:t>洪泽湖湿地公园</a:t>
            </a:r>
            <a:r>
              <a:rPr lang="en-US" altLang="zh-CN" dirty="0"/>
              <a:t>-HONGZE LAKE WETLAND PARK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240676-C5BD-473C-BAF4-074B20E35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32074" y="1979023"/>
            <a:ext cx="3642360" cy="4477210"/>
          </a:xfrm>
        </p:spPr>
        <p:txBody>
          <a:bodyPr>
            <a:noAutofit/>
          </a:bodyPr>
          <a:lstStyle/>
          <a:p>
            <a:r>
              <a:rPr lang="zh-CN" altLang="en-US" sz="1800" b="1" dirty="0"/>
              <a:t>洪泽湖湿地公园，国家</a:t>
            </a:r>
            <a:r>
              <a:rPr lang="en-US" altLang="zh-CN" sz="1800" b="1" dirty="0"/>
              <a:t>AAAA</a:t>
            </a:r>
            <a:r>
              <a:rPr lang="zh-CN" altLang="en-US" sz="1800" b="1" dirty="0"/>
              <a:t>级旅游景区、中国十大生态休闲基地，位于江苏泗洪洪泽湖湿地国家级自然保护区科学实验区内。洪泽湖湿地国家级自然保护区是江苏省最大的淡水湿地自然保护区，在全国内陆淡水湿地中排第</a:t>
            </a:r>
            <a:r>
              <a:rPr lang="en-US" altLang="zh-CN" sz="1800" b="1" dirty="0"/>
              <a:t>11</a:t>
            </a:r>
            <a:r>
              <a:rPr lang="zh-CN" altLang="en-US" sz="1800" b="1" dirty="0"/>
              <a:t>位，华东地区第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位。保护区主要保护对象为：内陆淡水湿地生态系统，国家重点保护鸟类和其他野生动植物、鱼类产卵场、下草湾标准地层剖面。保护区拥有鸟类</a:t>
            </a:r>
            <a:r>
              <a:rPr lang="en-US" altLang="zh-CN" sz="1800" b="1" dirty="0"/>
              <a:t>194</a:t>
            </a:r>
            <a:r>
              <a:rPr lang="zh-CN" altLang="en-US" sz="1800" b="1" dirty="0"/>
              <a:t>种，其中有国家一级保护鸟类大鸨、东方白鹳、黑鹳、丹顶鹤等，国家二级保护鸟类</a:t>
            </a:r>
            <a:r>
              <a:rPr lang="en-US" altLang="zh-CN" sz="1800" b="1" dirty="0"/>
              <a:t>26</a:t>
            </a:r>
            <a:r>
              <a:rPr lang="zh-CN" altLang="en-US" sz="1800" b="1" dirty="0"/>
              <a:t>种，近来还发现世界濒危鸟类震旦鸦雀。旅游资源独特，具有很强的吸引力。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A25B96-44B3-4834-BD77-58D02AF07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91" y="3715639"/>
            <a:ext cx="8307977" cy="359726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2BFBBE1-AD43-4086-BC52-97F2D8D4C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80" y="222069"/>
            <a:ext cx="3937771" cy="262937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FC37A34-403A-440E-AE98-A7C93DAA41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2769" y="1587537"/>
            <a:ext cx="3337860" cy="217594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5F9DA83-30B9-459D-AB78-2C4D63A28F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461" y="3429000"/>
            <a:ext cx="3904237" cy="244924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60C1F02-6AF7-44C2-92B2-9FEE6AC100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9159" y="4349389"/>
            <a:ext cx="3379433" cy="223860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AE70673-AD66-434D-A582-6775E13F2CB5}"/>
              </a:ext>
            </a:extLst>
          </p:cNvPr>
          <p:cNvSpPr/>
          <p:nvPr/>
        </p:nvSpPr>
        <p:spPr>
          <a:xfrm rot="19684867">
            <a:off x="-312907" y="2806815"/>
            <a:ext cx="893379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MY HOMETOWN</a:t>
            </a:r>
            <a:endParaRPr lang="zh-CN" altLang="en-US" sz="8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650526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228819E1-6891-4116-A018-6147FD25F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i="1" u="sng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让我们来瞅一瞅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2175486F-BAEC-4F6E-8ECF-7536BAE34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zh-CN" altLang="en-US" dirty="0"/>
              <a:t>国内</a:t>
            </a:r>
          </a:p>
        </p:txBody>
      </p:sp>
      <p:pic>
        <p:nvPicPr>
          <p:cNvPr id="17" name="内容占位符 16">
            <a:hlinkClick r:id="rId2" action="ppaction://hlinksldjump"/>
            <a:extLst>
              <a:ext uri="{FF2B5EF4-FFF2-40B4-BE49-F238E27FC236}">
                <a16:creationId xmlns:a16="http://schemas.microsoft.com/office/drawing/2014/main" id="{D3C0C7A2-E7DD-4E1C-9B13-9F52F138BC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117" y="2935211"/>
            <a:ext cx="4754563" cy="3169708"/>
          </a:xfrm>
        </p:spPr>
      </p:pic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CF02741-C252-4D10-B55D-2E9C45030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zh-CN" altLang="en-US" dirty="0"/>
              <a:t>国外</a:t>
            </a:r>
          </a:p>
        </p:txBody>
      </p:sp>
      <p:pic>
        <p:nvPicPr>
          <p:cNvPr id="19" name="内容占位符 18">
            <a:hlinkClick r:id="rId4" action="ppaction://hlinksldjump"/>
            <a:extLst>
              <a:ext uri="{FF2B5EF4-FFF2-40B4-BE49-F238E27FC236}">
                <a16:creationId xmlns:a16="http://schemas.microsoft.com/office/drawing/2014/main" id="{A7AECDB5-07B3-4B37-8923-93B314D2129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688" y="2938381"/>
            <a:ext cx="4754562" cy="3166538"/>
          </a:xfr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417287C-47F6-494C-BD37-8686EC8AA2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169665"/>
            <a:ext cx="1707028" cy="55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6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B1B8685E-A23B-41DE-BFAB-44D11CE3D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-71120"/>
            <a:ext cx="12192000" cy="70612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FA85BAB0-6951-4B7C-B535-6FCECC621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9489" y="-656796"/>
            <a:ext cx="9951637" cy="6645023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01C705F9-7CDC-44E9-B8E2-48BCEB3A9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48" y="1913950"/>
            <a:ext cx="4204137" cy="134275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zh-CN" alt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美国大峡谷</a:t>
            </a:r>
            <a:r>
              <a:rPr lang="en-US" altLang="zh-CN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-The Grand Canyon</a:t>
            </a:r>
            <a:br>
              <a:rPr lang="en-US" altLang="zh-CN" sz="3600" b="1" dirty="0"/>
            </a:br>
            <a:endParaRPr lang="zh-CN" altLang="en-US" sz="36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12D536-9708-471E-A8A3-401ABB88D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149" y="1660158"/>
            <a:ext cx="7821751" cy="5197841"/>
          </a:xfrm>
          <a:prstGeom prst="rect">
            <a:avLst/>
          </a:prstGeom>
        </p:spPr>
      </p:pic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1687073-D78F-4EB4-A4CF-D207255C6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005" y="1913950"/>
            <a:ext cx="4593021" cy="404409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altLang="zh-CN" sz="18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      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美国大峡谷是一个举世闻名的自然奇观， 位于西部亚利桑那州西北部的凯巴布高原上，总面积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2724.7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平方公里， 由于科罗拉多河穿流其中，故又名科罗拉多大峡谷。它是联合国教科文组织选为受保护的天然遗</a:t>
            </a:r>
            <a:r>
              <a:rPr lang="zh-CN" altLang="en-US" sz="1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产之一 。</a:t>
            </a:r>
          </a:p>
        </p:txBody>
      </p:sp>
    </p:spTree>
    <p:extLst>
      <p:ext uri="{BB962C8B-B14F-4D97-AF65-F5344CB8AC3E}">
        <p14:creationId xmlns:p14="http://schemas.microsoft.com/office/powerpoint/2010/main" val="483473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 descr="图片包含 山, 水, 户外, 自然&#10;&#10;已生成极高可信度的说明">
            <a:extLst>
              <a:ext uri="{FF2B5EF4-FFF2-40B4-BE49-F238E27FC236}">
                <a16:creationId xmlns:a16="http://schemas.microsoft.com/office/drawing/2014/main" id="{5F6B0B2D-F516-455A-8B3F-90B5E56682B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9" r="1" b="2415"/>
          <a:stretch/>
        </p:blipFill>
        <p:spPr>
          <a:xfrm>
            <a:off x="-10628" y="0"/>
            <a:ext cx="8291027" cy="6858000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9C3194AD-D5C7-4E98-8F3A-1E3E4E5D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89552"/>
            <a:ext cx="6594189" cy="16252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en-US" sz="4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PingFang SC"/>
              </a:rPr>
              <a:t>新西兰的南岛</a:t>
            </a:r>
            <a:r>
              <a:rPr lang="en-US" altLang="zh-CN" sz="4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PingFang SC"/>
              </a:rPr>
              <a:t>-</a:t>
            </a:r>
            <a:r>
              <a:rPr lang="en-US" altLang="zh-CN" sz="44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PingFang SC"/>
              </a:rPr>
              <a:t>Sout</a:t>
            </a:r>
            <a:r>
              <a:rPr lang="en-US" altLang="zh-CN" sz="4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PingFang SC"/>
              </a:rPr>
              <a:t> Island</a:t>
            </a:r>
            <a:endParaRPr lang="en-US" altLang="zh-CN" sz="4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A043A76-76DA-4047-A3AB-B6F8F9111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39714" y="-121920"/>
            <a:ext cx="3424739" cy="6644640"/>
          </a:xfrm>
        </p:spPr>
        <p:txBody>
          <a:bodyPr vert="horz" lIns="91440" tIns="45720" rIns="91440" bIns="45720" rtlCol="0" anchor="ctr">
            <a:normAutofit fontScale="47500" lnSpcReduction="2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FFFF"/>
                </a:solidFill>
              </a:rPr>
              <a:t>新西兰位于南太平洋， 海岸线长</a:t>
            </a:r>
            <a:r>
              <a:rPr lang="en-US" altLang="zh-CN" sz="2000" dirty="0">
                <a:solidFill>
                  <a:srgbClr val="FFFFFF"/>
                </a:solidFill>
              </a:rPr>
              <a:t>6900</a:t>
            </a:r>
            <a:r>
              <a:rPr lang="zh-CN" altLang="en-US" sz="2000" dirty="0">
                <a:solidFill>
                  <a:srgbClr val="FFFFFF"/>
                </a:solidFill>
              </a:rPr>
              <a:t>千米， 主要由南岛和北岛组成库克海峡将两岛分开， 还有许多较小的岛屿全境多山， 山地面积占全国面新西兰位于南太平洋， 海岸线长</a:t>
            </a:r>
            <a:r>
              <a:rPr lang="en-US" altLang="zh-CN" sz="2000" dirty="0">
                <a:solidFill>
                  <a:srgbClr val="FFFFFF"/>
                </a:solidFill>
              </a:rPr>
              <a:t>6900</a:t>
            </a:r>
            <a:r>
              <a:rPr lang="zh-CN" altLang="en-US" sz="2000" dirty="0">
                <a:solidFill>
                  <a:srgbClr val="FFFFFF"/>
                </a:solidFill>
              </a:rPr>
              <a:t>组</a:t>
            </a:r>
            <a:r>
              <a:rPr lang="zh-CN" altLang="en-US" sz="5100" dirty="0">
                <a:solidFill>
                  <a:srgbClr val="222222"/>
                </a:solidFill>
                <a:latin typeface="PingFang SC"/>
              </a:rPr>
              <a:t>新西兰位于南太平洋， 海岸线长</a:t>
            </a:r>
            <a:r>
              <a:rPr lang="en-US" altLang="zh-CN" sz="5100" dirty="0">
                <a:solidFill>
                  <a:srgbClr val="222222"/>
                </a:solidFill>
                <a:latin typeface="PingFang SC"/>
              </a:rPr>
              <a:t>6900</a:t>
            </a:r>
            <a:r>
              <a:rPr lang="zh-CN" altLang="en-US" sz="5100" dirty="0">
                <a:solidFill>
                  <a:srgbClr val="222222"/>
                </a:solidFill>
                <a:latin typeface="PingFang SC"/>
              </a:rPr>
              <a:t>千米， 主要由南岛和北岛组成库克海峡将两岛分开， 还有许多较小的岛屿全境多山， 山地面积占全国面积的</a:t>
            </a:r>
            <a:r>
              <a:rPr lang="en-US" altLang="zh-CN" sz="5100" dirty="0">
                <a:solidFill>
                  <a:srgbClr val="222222"/>
                </a:solidFill>
                <a:latin typeface="PingFang SC"/>
              </a:rPr>
              <a:t>50% </a:t>
            </a:r>
            <a:r>
              <a:rPr lang="zh-CN" altLang="en-US" sz="5100" dirty="0">
                <a:solidFill>
                  <a:srgbClr val="222222"/>
                </a:solidFill>
                <a:latin typeface="PingFang SC"/>
              </a:rPr>
              <a:t>，南岛西部绵亘着雄伟的南阿尔卑斯山脉库克峰海拔</a:t>
            </a:r>
            <a:r>
              <a:rPr lang="en-US" altLang="zh-CN" sz="5100" dirty="0">
                <a:solidFill>
                  <a:srgbClr val="222222"/>
                </a:solidFill>
                <a:latin typeface="PingFang SC"/>
              </a:rPr>
              <a:t>3764</a:t>
            </a:r>
            <a:r>
              <a:rPr lang="zh-CN" altLang="en-US" sz="5100" dirty="0">
                <a:solidFill>
                  <a:srgbClr val="222222"/>
                </a:solidFill>
                <a:latin typeface="PingFang SC"/>
              </a:rPr>
              <a:t>米，为全国最高峰 ，无论是茂盛的雨林、 清澈的湖泊 还是绿草茵茵的和山坡、水清沙白的海滩 ，无不显示新西兰的 。</a:t>
            </a:r>
            <a:r>
              <a:rPr lang="zh-CN" altLang="en-US" sz="2000" dirty="0">
                <a:solidFill>
                  <a:srgbClr val="FFFFFF"/>
                </a:solidFill>
              </a:rPr>
              <a:t>成库克海峡将两岛分开， 还有许多较小的岛屿全境多山， 山地面积占全国面积的</a:t>
            </a:r>
            <a:r>
              <a:rPr lang="en-US" altLang="zh-CN" sz="2000" dirty="0">
                <a:solidFill>
                  <a:srgbClr val="FFFFFF"/>
                </a:solidFill>
              </a:rPr>
              <a:t>50% </a:t>
            </a:r>
            <a:r>
              <a:rPr lang="zh-CN" altLang="en-US" sz="2000" dirty="0">
                <a:solidFill>
                  <a:srgbClr val="FFFFFF"/>
                </a:solidFill>
              </a:rPr>
              <a:t>，南岛西部绵亘着雄伟的南阿尔卑斯山脉库克峰海拔</a:t>
            </a:r>
            <a:r>
              <a:rPr lang="en-US" altLang="zh-CN" sz="2000" dirty="0">
                <a:solidFill>
                  <a:srgbClr val="FFFFFF"/>
                </a:solidFill>
              </a:rPr>
              <a:t>3764</a:t>
            </a:r>
            <a:r>
              <a:rPr lang="zh-CN" altLang="en-US" sz="2000" dirty="0">
                <a:solidFill>
                  <a:srgbClr val="FFFFFF"/>
                </a:solidFill>
              </a:rPr>
              <a:t>米，为全国最高峰 ，无论是茂盛的雨林、 清澈的湖泊 还是绿草茵茵的和山坡、水清沙白的海滩 ，无不显示新西兰的 。积的</a:t>
            </a:r>
            <a:r>
              <a:rPr lang="en-US" altLang="zh-CN" sz="2000" dirty="0">
                <a:solidFill>
                  <a:srgbClr val="FFFFFF"/>
                </a:solidFill>
              </a:rPr>
              <a:t>50% </a:t>
            </a:r>
            <a:r>
              <a:rPr lang="zh-CN" altLang="en-US" sz="2000" dirty="0">
                <a:solidFill>
                  <a:srgbClr val="FFFFFF"/>
                </a:solidFill>
              </a:rPr>
              <a:t>，南岛西部绵亘着雄伟的南阿尔卑斯山脉库克峰海拔</a:t>
            </a:r>
            <a:r>
              <a:rPr lang="en-US" altLang="zh-CN" sz="2000" dirty="0">
                <a:solidFill>
                  <a:srgbClr val="FFFFFF"/>
                </a:solidFill>
              </a:rPr>
              <a:t>3764</a:t>
            </a:r>
            <a:r>
              <a:rPr lang="zh-CN" altLang="en-US" sz="2000" dirty="0">
                <a:solidFill>
                  <a:srgbClr val="FFFFFF"/>
                </a:solidFill>
              </a:rPr>
              <a:t>米，为全国最高峰 ，无论是茂盛的雨林、 清澈的湖泊 还是绿草茵茵的和山坡、水清沙白的海滩 ，无不显示新西兰的 </a:t>
            </a:r>
          </a:p>
        </p:txBody>
      </p:sp>
    </p:spTree>
    <p:extLst>
      <p:ext uri="{BB962C8B-B14F-4D97-AF65-F5344CB8AC3E}">
        <p14:creationId xmlns:p14="http://schemas.microsoft.com/office/powerpoint/2010/main" val="389401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302F038-2F62-4CA4-8A31-3BDD2CEDB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81" y="414750"/>
            <a:ext cx="4803636" cy="1420534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en-US" sz="4400" dirty="0">
                <a:solidFill>
                  <a:srgbClr val="000000"/>
                </a:solidFill>
              </a:rPr>
              <a:t>印度泰姬陵</a:t>
            </a:r>
            <a:r>
              <a:rPr lang="en-US" altLang="zh-CN" sz="4400" dirty="0">
                <a:solidFill>
                  <a:srgbClr val="000000"/>
                </a:solidFill>
              </a:rPr>
              <a:t>-Taj Mahal</a:t>
            </a:r>
          </a:p>
        </p:txBody>
      </p:sp>
      <p:pic>
        <p:nvPicPr>
          <p:cNvPr id="8" name="内容占位符 7" descr="图片包含 水, 户外, 天空, 建筑物&#10;&#10;已生成极高可信度的说明">
            <a:extLst>
              <a:ext uri="{FF2B5EF4-FFF2-40B4-BE49-F238E27FC236}">
                <a16:creationId xmlns:a16="http://schemas.microsoft.com/office/drawing/2014/main" id="{4D31F244-5252-47BE-8AF5-9046F940D2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433217" y="762000"/>
            <a:ext cx="6711950" cy="5461533"/>
          </a:xfrm>
          <a:prstGeom prst="rect">
            <a:avLst/>
          </a:prstGeom>
          <a:scene3d>
            <a:camera prst="perspectiveLeft"/>
            <a:lightRig rig="threePt" dir="t"/>
          </a:scene3d>
        </p:spPr>
      </p:pic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68D0CC9-31D8-42E4-A67F-C021E8B80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998" y="2349862"/>
            <a:ext cx="4706803" cy="3788830"/>
          </a:xfrm>
          <a:scene3d>
            <a:camera prst="perspectiveRight"/>
            <a:lightRig rig="threePt" dir="t"/>
          </a:scene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zh-CN" altLang="en-US" sz="1900" dirty="0">
                <a:solidFill>
                  <a:srgbClr val="000000"/>
                </a:solidFill>
              </a:rPr>
              <a:t>坐落于印度古都阿格的泰姬陵 ，是世界七大奇迹之一。 泰姬陵最引人瞩目的是用纯白大理石砌建而成的主体建筑， 皇陵上下左右工整对称 ，中央圆顶高六十二米 ，令人叹为观止。 四周有四座高约四十一米的尖塔， 塔与塔之间耸立了镶满三十五种不同类型的半宝石的墓碑。 陵园占地十七公顷， 为一略呈长形的圈子， 四周围以红沙石墙 ，进口大门也用红岩砌建 ， 大门一直通往沙杰罕王和王妃的下葬室， 室的中央则摆放了他们的石棺， 壮严肃穆泰姬陵的前面是一条清澄水道， 水道两旁种植有果树和柏树 ，分别象征生命和死亡 。</a:t>
            </a:r>
          </a:p>
        </p:txBody>
      </p:sp>
    </p:spTree>
    <p:extLst>
      <p:ext uri="{BB962C8B-B14F-4D97-AF65-F5344CB8AC3E}">
        <p14:creationId xmlns:p14="http://schemas.microsoft.com/office/powerpoint/2010/main" val="38744865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 descr="图片包含 天空, 户外, 自然, 山&#10;&#10;已生成极高可信度的说明">
            <a:extLst>
              <a:ext uri="{FF2B5EF4-FFF2-40B4-BE49-F238E27FC236}">
                <a16:creationId xmlns:a16="http://schemas.microsoft.com/office/drawing/2014/main" id="{60E61981-0F20-4229-8E04-EEB904088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673A7A6-ACBF-468B-81D0-BD58188BE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zh-CN" altLang="en-US" sz="6000" dirty="0">
                <a:solidFill>
                  <a:srgbClr val="FFFFFF"/>
                </a:solidFill>
              </a:rPr>
              <a:t>加拿大洛基山脉</a:t>
            </a:r>
            <a:r>
              <a:rPr lang="en-US" altLang="zh-CN" sz="6000" dirty="0">
                <a:solidFill>
                  <a:srgbClr val="FFFFFF"/>
                </a:solidFill>
              </a:rPr>
              <a:t>-Canadian Rockies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09924E-9440-43BB-8FD2-734AAB63C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algn="ctr"/>
            <a:r>
              <a:rPr lang="en-US" altLang="zh-CN" sz="2400" dirty="0">
                <a:solidFill>
                  <a:srgbClr val="FFFFFF"/>
                </a:solidFill>
              </a:rPr>
              <a:t>       </a:t>
            </a:r>
            <a:r>
              <a:rPr lang="zh-CN" altLang="en-US" sz="2400" dirty="0">
                <a:solidFill>
                  <a:srgbClr val="FFFFFF"/>
                </a:solidFill>
              </a:rPr>
              <a:t>洛基山脉是加拿大境内最著名的山脉 ，也是著名的旅游胜地 。高耸入云的山峰上终年覆盖着皑皑白雪， 在蔚蓝色天空的映衬下， 显得格外高远， 令人心驰神往 。</a:t>
            </a:r>
          </a:p>
        </p:txBody>
      </p:sp>
    </p:spTree>
    <p:extLst>
      <p:ext uri="{BB962C8B-B14F-4D97-AF65-F5344CB8AC3E}">
        <p14:creationId xmlns:p14="http://schemas.microsoft.com/office/powerpoint/2010/main" val="488265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思想气泡: 云 7">
            <a:extLst>
              <a:ext uri="{FF2B5EF4-FFF2-40B4-BE49-F238E27FC236}">
                <a16:creationId xmlns:a16="http://schemas.microsoft.com/office/drawing/2014/main" id="{BFA4DB33-D584-492C-A2FB-8B68BC1969AF}"/>
              </a:ext>
            </a:extLst>
          </p:cNvPr>
          <p:cNvSpPr/>
          <p:nvPr/>
        </p:nvSpPr>
        <p:spPr>
          <a:xfrm>
            <a:off x="245097" y="1688306"/>
            <a:ext cx="4779390" cy="4222301"/>
          </a:xfrm>
          <a:prstGeom prst="cloudCallou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FF0000"/>
              </a:highlight>
            </a:endParaRPr>
          </a:p>
        </p:txBody>
      </p:sp>
      <p:sp>
        <p:nvSpPr>
          <p:cNvPr id="9" name="卷形: 水平 8">
            <a:extLst>
              <a:ext uri="{FF2B5EF4-FFF2-40B4-BE49-F238E27FC236}">
                <a16:creationId xmlns:a16="http://schemas.microsoft.com/office/drawing/2014/main" id="{B164F890-051F-4A7F-ABA8-12527001179E}"/>
              </a:ext>
            </a:extLst>
          </p:cNvPr>
          <p:cNvSpPr/>
          <p:nvPr/>
        </p:nvSpPr>
        <p:spPr>
          <a:xfrm>
            <a:off x="417922" y="38616"/>
            <a:ext cx="11356156" cy="1649690"/>
          </a:xfrm>
          <a:prstGeom prst="horizontalScroll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F4B309B-3709-4F63-BD5D-6762AA7B4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21" y="-471340"/>
            <a:ext cx="10576873" cy="1649691"/>
          </a:xfrm>
        </p:spPr>
        <p:txBody>
          <a:bodyPr>
            <a:normAutofit/>
          </a:bodyPr>
          <a:lstStyle/>
          <a:p>
            <a:pPr algn="ctr"/>
            <a:r>
              <a:rPr lang="zh-CN" alt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尼亚加拉瀑布</a:t>
            </a:r>
            <a:r>
              <a:rPr lang="en-US" altLang="zh-CN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-Niagara Falls</a:t>
            </a:r>
            <a:endParaRPr lang="zh-CN" altLang="en-US" sz="4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内容占位符 5" descr="图片包含 水, 户外, 天空, 自然&#10;&#10;已生成极高可信度的说明">
            <a:extLst>
              <a:ext uri="{FF2B5EF4-FFF2-40B4-BE49-F238E27FC236}">
                <a16:creationId xmlns:a16="http://schemas.microsoft.com/office/drawing/2014/main" id="{18D8264D-363B-4B56-95C7-43F4F46EB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128" y="1765102"/>
            <a:ext cx="6711950" cy="4145505"/>
          </a:xfrm>
        </p:spPr>
      </p:pic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EC9374-8D07-4E36-AD4C-6969C1B26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068" y="2403835"/>
            <a:ext cx="3932237" cy="3597128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尼亚加拉瀑布位于加拿大和美国交界的尼亚加拉河上，它号称世界</a:t>
            </a:r>
            <a:r>
              <a:rPr lang="en-US" altLang="zh-CN" sz="2000" dirty="0"/>
              <a:t>7</a:t>
            </a:r>
            <a:r>
              <a:rPr lang="zh-CN" altLang="en-US" sz="2000" dirty="0"/>
              <a:t>大奇景之一。 以其宏伟的气势 ，丰沛而浩瀚的水汽， 震撼了所有前来观赏的游人。 尼亚加拉河是连接伊利湖和安大略湖的一条水道， 仅长</a:t>
            </a:r>
            <a:r>
              <a:rPr lang="en-US" altLang="zh-CN" sz="2000" dirty="0"/>
              <a:t>56</a:t>
            </a:r>
            <a:r>
              <a:rPr lang="zh-CN" altLang="en-US" sz="2000" dirty="0"/>
              <a:t>公里， 却从海拔</a:t>
            </a:r>
            <a:r>
              <a:rPr lang="en-US" altLang="zh-CN" sz="2000" dirty="0"/>
              <a:t>174</a:t>
            </a:r>
            <a:r>
              <a:rPr lang="zh-CN" altLang="en-US" sz="2000" dirty="0"/>
              <a:t>米直降至海拔</a:t>
            </a:r>
            <a:r>
              <a:rPr lang="en-US" altLang="zh-CN" sz="2000" dirty="0"/>
              <a:t>75</a:t>
            </a:r>
            <a:r>
              <a:rPr lang="zh-CN" altLang="en-US" sz="2000" dirty="0"/>
              <a:t>米。 </a:t>
            </a:r>
          </a:p>
        </p:txBody>
      </p:sp>
    </p:spTree>
    <p:extLst>
      <p:ext uri="{BB962C8B-B14F-4D97-AF65-F5344CB8AC3E}">
        <p14:creationId xmlns:p14="http://schemas.microsoft.com/office/powerpoint/2010/main" val="40159754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" grpId="0"/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 descr="图片包含 户外, 水, 建筑物, 天空&#10;&#10;已生成极高可信度的说明">
            <a:extLst>
              <a:ext uri="{FF2B5EF4-FFF2-40B4-BE49-F238E27FC236}">
                <a16:creationId xmlns:a16="http://schemas.microsoft.com/office/drawing/2014/main" id="{AD9FF4C5-170A-487D-9078-5ECEDCC22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gradFill>
            <a:gsLst>
              <a:gs pos="12843">
                <a:srgbClr val="E9EEF8">
                  <a:alpha val="89000"/>
                </a:srgbClr>
              </a:gs>
              <a:gs pos="19758">
                <a:srgbClr val="E2E9F6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EFD5029-D3C7-4BB8-B88E-D1CF52421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792" y="632224"/>
            <a:ext cx="3421128" cy="642856"/>
          </a:xfrm>
          <a:effectLst>
            <a:glow rad="12700">
              <a:schemeClr val="accent1">
                <a:alpha val="40000"/>
              </a:schemeClr>
            </a:glow>
            <a:reflection blurRad="25400" stA="81000" endPos="68000" dist="50800" dir="5400000" sy="-100000" algn="bl" rotWithShape="0"/>
          </a:effectLst>
        </p:spPr>
        <p:txBody>
          <a:bodyPr>
            <a:normAutofit/>
          </a:bodyPr>
          <a:lstStyle/>
          <a:p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威尼斯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-Venice</a:t>
            </a:r>
            <a:endParaRPr lang="zh-CN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DFF67E-081D-4879-BAEA-EFA4CB6E4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43948" y="4508945"/>
            <a:ext cx="5354984" cy="1716831"/>
          </a:xfr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60000">
                <a:schemeClr val="accent4">
                  <a:lumMod val="0"/>
                  <a:lumOff val="100000"/>
                  <a:alpha val="44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effectLst>
            <a:glow>
              <a:schemeClr val="bg1">
                <a:alpha val="98000"/>
              </a:schemeClr>
            </a:glow>
            <a:reflection blurRad="6350" stA="52000" endA="300" endPos="35000" dir="5400000" sy="-100000" algn="bl" rotWithShape="0"/>
            <a:softEdge rad="101600"/>
          </a:effectLst>
        </p:spPr>
        <p:txBody>
          <a:bodyPr>
            <a:normAutofit lnSpcReduction="10000"/>
          </a:bodyPr>
          <a:lstStyle/>
          <a:p>
            <a:r>
              <a:rPr lang="zh-CN" altLang="en-US" sz="1800" dirty="0"/>
              <a:t>       水是威尼斯城灵魂， 蜿蜒的河道 ，流动的清波 ，水光敛艳， 赋于水城不朽和灵秀之气。 晨光暮色中 ，城光水色相得益彰 ，更加庄严肃穆 诗情画意。懂得欣赏威尼斯水城之美的人 ，应是在月夜里 招手叫一支“贡多拉” 沿着运河曲折的水道， 让自己迷失在迷蒙夜色中， 领略这水上古城永恒魅力 。</a:t>
            </a:r>
          </a:p>
        </p:txBody>
      </p:sp>
    </p:spTree>
    <p:extLst>
      <p:ext uri="{BB962C8B-B14F-4D97-AF65-F5344CB8AC3E}">
        <p14:creationId xmlns:p14="http://schemas.microsoft.com/office/powerpoint/2010/main" val="42796081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uiExpand="1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31">
            <a:extLst>
              <a:ext uri="{FF2B5EF4-FFF2-40B4-BE49-F238E27FC236}">
                <a16:creationId xmlns:a16="http://schemas.microsoft.com/office/drawing/2014/main" id="{44FC10B2-BCD5-46E2-A2E0-F714BE70C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33">
            <a:extLst>
              <a:ext uri="{FF2B5EF4-FFF2-40B4-BE49-F238E27FC236}">
                <a16:creationId xmlns:a16="http://schemas.microsoft.com/office/drawing/2014/main" id="{92C2962D-5AA6-4EB0-9A2C-F385BF76A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35">
            <a:extLst>
              <a:ext uri="{FF2B5EF4-FFF2-40B4-BE49-F238E27FC236}">
                <a16:creationId xmlns:a16="http://schemas.microsoft.com/office/drawing/2014/main" id="{5196A65C-A88E-4E6C-9882-A77D52FCE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37">
            <a:extLst>
              <a:ext uri="{FF2B5EF4-FFF2-40B4-BE49-F238E27FC236}">
                <a16:creationId xmlns:a16="http://schemas.microsoft.com/office/drawing/2014/main" id="{9D656BC9-D198-47EB-BF65-7B922CED4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C92DB27-596D-48D1-BB72-94081C9C1E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AF33BFF-A87A-4022-BFF0-6C6E10173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0" name="Rectangle 41">
            <a:extLst>
              <a:ext uri="{FF2B5EF4-FFF2-40B4-BE49-F238E27FC236}">
                <a16:creationId xmlns:a16="http://schemas.microsoft.com/office/drawing/2014/main" id="{0E2D3DCD-4716-40AA-90C0-6F2F9F116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7620" y="-1"/>
            <a:ext cx="1220724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内容占位符 5" descr="图片包含 天空, 户外, 建筑物&#10;&#10;已生成极高可信度的说明">
            <a:extLst>
              <a:ext uri="{FF2B5EF4-FFF2-40B4-BE49-F238E27FC236}">
                <a16:creationId xmlns:a16="http://schemas.microsoft.com/office/drawing/2014/main" id="{3F8ED341-497D-4AD6-B78B-8172EA524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"/>
          <a:stretch/>
        </p:blipFill>
        <p:spPr>
          <a:xfrm>
            <a:off x="20" y="-203190"/>
            <a:ext cx="12191980" cy="6857989"/>
          </a:xfrm>
          <a:prstGeom prst="rect">
            <a:avLst/>
          </a:prstGeom>
        </p:spPr>
      </p:pic>
      <p:sp>
        <p:nvSpPr>
          <p:cNvPr id="61" name="Rectangle 43">
            <a:extLst>
              <a:ext uri="{FF2B5EF4-FFF2-40B4-BE49-F238E27FC236}">
                <a16:creationId xmlns:a16="http://schemas.microsoft.com/office/drawing/2014/main" id="{037BACED-9574-4AAE-9D04-510030835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7366"/>
            <a:ext cx="12192000" cy="2610465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DF4831B-E444-47DE-8D23-CF38C6196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360" y="4026419"/>
            <a:ext cx="9085940" cy="14722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zh-CN" altLang="en-US" sz="6800" kern="1200" cap="all" baseline="0" dirty="0">
                <a:blipFill dpi="0" rotWithShape="1">
                  <a:blip r:embed="rId4">
                    <a:extLst/>
                  </a:blip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拉斯维加斯</a:t>
            </a:r>
            <a:r>
              <a:rPr lang="en-US" altLang="zh-CN" sz="6800" kern="1200" cap="all" baseline="0" dirty="0">
                <a:blipFill dpi="0" rotWithShape="1">
                  <a:blip r:embed="rId4">
                    <a:extLst/>
                  </a:blip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-Las Vegas 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FB95BC-9B3F-4FB1-89B6-C4828F734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41195" y="5800490"/>
            <a:ext cx="9052560" cy="36448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zh-CN" altLang="en-US" sz="1800" dirty="0">
                <a:solidFill>
                  <a:schemeClr val="tx1"/>
                </a:solidFill>
              </a:rPr>
              <a:t>在一片乾燥的不毛之地后大地的，突然出现一座金碧辉煌的不夜城 ，一座不可思议的人工化城市， 任何人的目光都被那闪耀的霓虹灯及有特色的豪华风光所吸引， 甚至於在完全不同于日常生活的幻境中迷失自我 。</a:t>
            </a:r>
          </a:p>
        </p:txBody>
      </p:sp>
      <p:grpSp>
        <p:nvGrpSpPr>
          <p:cNvPr id="62" name="Group 45">
            <a:extLst>
              <a:ext uri="{FF2B5EF4-FFF2-40B4-BE49-F238E27FC236}">
                <a16:creationId xmlns:a16="http://schemas.microsoft.com/office/drawing/2014/main" id="{FA08BC01-A289-44B6-9133-2814052F9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111496"/>
            <a:ext cx="1080904" cy="1080902"/>
            <a:chOff x="9685338" y="4460675"/>
            <a:chExt cx="1080904" cy="1080902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CD65F9-B9FF-4981-AB43-F25748584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63" name="Oval 47">
              <a:extLst>
                <a:ext uri="{FF2B5EF4-FFF2-40B4-BE49-F238E27FC236}">
                  <a16:creationId xmlns:a16="http://schemas.microsoft.com/office/drawing/2014/main" id="{782EC907-6C80-4890-9ECB-3019DBC4D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99516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图片包含 户外, 天空, 水, 建筑物&#10;&#10;已生成极高可信度的说明">
            <a:extLst>
              <a:ext uri="{FF2B5EF4-FFF2-40B4-BE49-F238E27FC236}">
                <a16:creationId xmlns:a16="http://schemas.microsoft.com/office/drawing/2014/main" id="{12CEE62C-4541-4690-A0F8-FDF9156AB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1049103-A674-4C5C-AC83-F24F74AB4E1C}"/>
              </a:ext>
            </a:extLst>
          </p:cNvPr>
          <p:cNvSpPr txBox="1"/>
          <p:nvPr/>
        </p:nvSpPr>
        <p:spPr>
          <a:xfrm>
            <a:off x="2253005" y="281121"/>
            <a:ext cx="9266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这些地方你们去过吗？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92FBC1-BA41-4899-AD09-FA5CCE4EEDD7}"/>
              </a:ext>
            </a:extLst>
          </p:cNvPr>
          <p:cNvSpPr txBox="1"/>
          <p:nvPr/>
        </p:nvSpPr>
        <p:spPr>
          <a:xfrm>
            <a:off x="5737781" y="1011068"/>
            <a:ext cx="3393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你们想去吗？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B84D30-3C29-48C4-A27F-729A32668E44}"/>
              </a:ext>
            </a:extLst>
          </p:cNvPr>
          <p:cNvSpPr txBox="1"/>
          <p:nvPr/>
        </p:nvSpPr>
        <p:spPr>
          <a:xfrm>
            <a:off x="4449450" y="1688621"/>
            <a:ext cx="1734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想去？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C6AFC2-66C0-4C5E-8C02-A7FD331C027E}"/>
              </a:ext>
            </a:extLst>
          </p:cNvPr>
          <p:cNvSpPr txBox="1"/>
          <p:nvPr/>
        </p:nvSpPr>
        <p:spPr>
          <a:xfrm>
            <a:off x="2997722" y="2470214"/>
            <a:ext cx="2318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</a:rPr>
              <a:t>你有钱吗？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DE8BFFA-23E7-4ABD-B0E0-B61CBE80DA36}"/>
              </a:ext>
            </a:extLst>
          </p:cNvPr>
          <p:cNvSpPr txBox="1"/>
          <p:nvPr/>
        </p:nvSpPr>
        <p:spPr>
          <a:xfrm>
            <a:off x="6039439" y="2891361"/>
            <a:ext cx="3091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</a:rPr>
              <a:t>有人陪你去吗</a:t>
            </a:r>
            <a:r>
              <a:rPr lang="en-US" altLang="zh-CN" sz="3600" dirty="0">
                <a:solidFill>
                  <a:srgbClr val="C00000"/>
                </a:solidFill>
              </a:rPr>
              <a:t>?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69F2436-218D-4DD8-A442-BCAA0546C855}"/>
              </a:ext>
            </a:extLst>
          </p:cNvPr>
          <p:cNvSpPr txBox="1"/>
          <p:nvPr/>
        </p:nvSpPr>
        <p:spPr>
          <a:xfrm>
            <a:off x="4411744" y="3702237"/>
            <a:ext cx="3723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</a:rPr>
              <a:t>你有女朋友吗？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18035D3-F728-46E2-BA37-B1F1CFA23047}"/>
              </a:ext>
            </a:extLst>
          </p:cNvPr>
          <p:cNvSpPr txBox="1"/>
          <p:nvPr/>
        </p:nvSpPr>
        <p:spPr>
          <a:xfrm>
            <a:off x="6765302" y="4282514"/>
            <a:ext cx="3846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没有也没关系，看看图片就好了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E2D79D8-EE01-4728-BDB5-901A7AD0294C}"/>
              </a:ext>
            </a:extLst>
          </p:cNvPr>
          <p:cNvSpPr txBox="1"/>
          <p:nvPr/>
        </p:nvSpPr>
        <p:spPr>
          <a:xfrm>
            <a:off x="3082565" y="5698753"/>
            <a:ext cx="5370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u="sng" dirty="0">
                <a:solidFill>
                  <a:srgbClr val="FF0000"/>
                </a:solidFill>
              </a:rPr>
              <a:t>开个玩笑，不要介意</a:t>
            </a:r>
          </a:p>
        </p:txBody>
      </p:sp>
    </p:spTree>
    <p:extLst>
      <p:ext uri="{BB962C8B-B14F-4D97-AF65-F5344CB8AC3E}">
        <p14:creationId xmlns:p14="http://schemas.microsoft.com/office/powerpoint/2010/main" val="15451277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山, 天空, 户外, 自然&#10;&#10;已生成极高可信度的说明">
            <a:extLst>
              <a:ext uri="{FF2B5EF4-FFF2-40B4-BE49-F238E27FC236}">
                <a16:creationId xmlns:a16="http://schemas.microsoft.com/office/drawing/2014/main" id="{ABC8117F-F660-48C0-9418-7E13DCCE4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C5A1119-09DA-48FC-B898-6F5E0A800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谢谢各位赏脸观看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664F3F-8D4D-47B3-820E-37822C114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9213" y="4454542"/>
            <a:ext cx="7891272" cy="1069848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PS</a:t>
            </a:r>
            <a:r>
              <a:rPr lang="zh-CN" altLang="en-US" sz="36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：如有不满，多多包涵</a:t>
            </a:r>
          </a:p>
        </p:txBody>
      </p:sp>
    </p:spTree>
    <p:extLst>
      <p:ext uri="{BB962C8B-B14F-4D97-AF65-F5344CB8AC3E}">
        <p14:creationId xmlns:p14="http://schemas.microsoft.com/office/powerpoint/2010/main" val="259968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活字">
  <a:themeElements>
    <a:clrScheme name="木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1162</Words>
  <Application>Microsoft Office PowerPoint</Application>
  <PresentationFormat>宽屏</PresentationFormat>
  <Paragraphs>42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PingFang SC</vt:lpstr>
      <vt:lpstr>等线</vt:lpstr>
      <vt:lpstr>方正姚体</vt:lpstr>
      <vt:lpstr>Arial</vt:lpstr>
      <vt:lpstr>Calibri</vt:lpstr>
      <vt:lpstr>Comic Sans MS</vt:lpstr>
      <vt:lpstr>Microsoft Tai Le</vt:lpstr>
      <vt:lpstr>Rockwell</vt:lpstr>
      <vt:lpstr>Rockwell Condensed</vt:lpstr>
      <vt:lpstr>Rockwell Extra Bold</vt:lpstr>
      <vt:lpstr>Wingdings</vt:lpstr>
      <vt:lpstr>木活字</vt:lpstr>
      <vt:lpstr>看看这世界</vt:lpstr>
      <vt:lpstr>让我们来瞅一瞅</vt:lpstr>
      <vt:lpstr>中国的长城-Great Wall of China </vt:lpstr>
      <vt:lpstr>云南丽江-Lijiang Yunnan province</vt:lpstr>
      <vt:lpstr>洪泽湖湿地公园-HONGZE LAKE WETLAND PARK</vt:lpstr>
      <vt:lpstr>让我们来瞅一瞅</vt:lpstr>
      <vt:lpstr>美国大峡谷-The Grand Canyon </vt:lpstr>
      <vt:lpstr>新西兰的南岛-Sout Island</vt:lpstr>
      <vt:lpstr>印度泰姬陵-Taj Mahal</vt:lpstr>
      <vt:lpstr>加拿大洛基山脉-Canadian Rockies</vt:lpstr>
      <vt:lpstr>尼亚加拉瀑布-Niagara Falls</vt:lpstr>
      <vt:lpstr>威尼斯-Venice</vt:lpstr>
      <vt:lpstr>拉斯维加斯-Las Vegas </vt:lpstr>
      <vt:lpstr>PowerPoint 演示文稿</vt:lpstr>
      <vt:lpstr>谢谢各位赏脸观看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看看这世界</dc:title>
  <dc:creator>紫怡 万</dc:creator>
  <cp:lastModifiedBy>紫怡 万</cp:lastModifiedBy>
  <cp:revision>12</cp:revision>
  <dcterms:created xsi:type="dcterms:W3CDTF">2018-10-05T13:02:05Z</dcterms:created>
  <dcterms:modified xsi:type="dcterms:W3CDTF">2018-10-06T08:44:17Z</dcterms:modified>
</cp:coreProperties>
</file>