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x-wav"/>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4" r:id="rId8"/>
    <p:sldId id="265"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B7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02" autoAdjust="0"/>
  </p:normalViewPr>
  <p:slideViewPr>
    <p:cSldViewPr snapToGrid="0">
      <p:cViewPr>
        <p:scale>
          <a:sx n="64" d="100"/>
          <a:sy n="64" d="100"/>
        </p:scale>
        <p:origin x="748" y="32"/>
      </p:cViewPr>
      <p:guideLst/>
    </p:cSldViewPr>
  </p:slideViewPr>
  <p:outlineViewPr>
    <p:cViewPr>
      <p:scale>
        <a:sx n="33" d="100"/>
        <a:sy n="33" d="100"/>
      </p:scale>
      <p:origin x="0" y="-635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56A0AF-4F2B-4761-B68C-4EFAE9241B3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98680F5-CD1B-49D5-8A80-5241059135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230C25B-FD52-4188-9231-F50DD7613455}"/>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F7EFED41-3725-4393-B665-AB51951FD5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3D41B4-5DA2-4C41-A3A5-504827A78D66}"/>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230671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957DB-C905-4736-A6D5-5780D5AFE1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3B7767-D39A-4979-8C9F-3FA5C3030F6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83E9FB4-ED74-4522-ACB9-C0C889D998FB}"/>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C5BDA885-959B-46D2-AFE1-0B3D10B001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FA019C-09A0-43FD-8A00-F9547D7388EE}"/>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870773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875DA-D002-4047-B710-5FA5401346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5A2B256-B360-4711-BE3E-00A6554FC6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EA9AF7A-813F-4571-84A5-62F48783E088}"/>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76669195-9310-4189-BA96-683CE2AC234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B7F458-2F78-4F86-9DFA-5F3566A01921}"/>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873538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4A561-9071-4DB8-9CAF-CE21C596AAC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AD687BE-E73C-49AF-B066-9605053A58E7}"/>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5D4EA31-0424-483E-84E1-991EB05DE8FD}"/>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F5C5D2E-2DF3-468C-AF50-1AF50327A104}"/>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6" name="页脚占位符 5">
            <a:extLst>
              <a:ext uri="{FF2B5EF4-FFF2-40B4-BE49-F238E27FC236}">
                <a16:creationId xmlns:a16="http://schemas.microsoft.com/office/drawing/2014/main" id="{E023A77A-72BA-473C-8F27-1F1D7EAF9F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A1CE62-65BD-499B-A2C7-7A0B0F7BC28A}"/>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3253719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95F9D5-B4A9-49AF-946B-A12D4C8888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3A499C2-3BB7-46B4-8B21-868BF2C86D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C6F463CA-AB4F-454A-A7F0-76937F196A6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C01FE607-28DB-4C60-AB3B-398B30CA7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6B74E8C-1E74-4182-8392-864F1B4BD0A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481622-83EC-46EE-9DF4-DBC56659A900}"/>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8" name="页脚占位符 7">
            <a:extLst>
              <a:ext uri="{FF2B5EF4-FFF2-40B4-BE49-F238E27FC236}">
                <a16:creationId xmlns:a16="http://schemas.microsoft.com/office/drawing/2014/main" id="{D601A82E-CF16-475D-B898-B8FCC97BC79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D29CD76-166E-4910-8798-A6701D671345}"/>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75217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7F5396-A333-4E31-836F-726A5306C75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C15700-06A3-44F7-9B39-1A66BD6D0E66}"/>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4" name="页脚占位符 3">
            <a:extLst>
              <a:ext uri="{FF2B5EF4-FFF2-40B4-BE49-F238E27FC236}">
                <a16:creationId xmlns:a16="http://schemas.microsoft.com/office/drawing/2014/main" id="{0ECCF00D-1939-433F-BA4D-D11386ED463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BA4B9E4-7AA4-4BB8-BEAC-4BA946FB34D7}"/>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1775110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72E38A7-7A08-492D-9023-E7A98E931AB8}"/>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3" name="页脚占位符 2">
            <a:extLst>
              <a:ext uri="{FF2B5EF4-FFF2-40B4-BE49-F238E27FC236}">
                <a16:creationId xmlns:a16="http://schemas.microsoft.com/office/drawing/2014/main" id="{06BC3C02-EBC6-4821-B9AF-C0250442958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0E05922-3786-4135-B894-E2BBA973EBFE}"/>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2469124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EA8945-96BF-4FE6-9213-AF3F481F04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920318-0749-4364-BF85-0B1D6073C2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CA63AE3-664C-4755-ACD2-5B5E352CA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E1F722A-FD39-4BE0-9099-7A7C073ADA8C}"/>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6" name="页脚占位符 5">
            <a:extLst>
              <a:ext uri="{FF2B5EF4-FFF2-40B4-BE49-F238E27FC236}">
                <a16:creationId xmlns:a16="http://schemas.microsoft.com/office/drawing/2014/main" id="{6333645F-6BA6-4BAC-BD21-F9B02770C4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6FD36B-049E-46BF-848E-F3411CE42BA2}"/>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1000059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705D5E-A7B1-46A5-AC7C-B956D79EAF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9FEA4A1-14A6-4CA7-A719-6EA8B438E8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EF1B4AC-870D-4676-84BA-590FC5847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8A43912-A989-401F-9B85-B9B0DBA72C7F}"/>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6" name="页脚占位符 5">
            <a:extLst>
              <a:ext uri="{FF2B5EF4-FFF2-40B4-BE49-F238E27FC236}">
                <a16:creationId xmlns:a16="http://schemas.microsoft.com/office/drawing/2014/main" id="{AD0185DE-99EE-41E1-9F68-18AB5E0412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0C3916-21AC-41AC-A864-0E4A5FC1C87A}"/>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380667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AAAE2-B947-4634-A341-8287376CFDE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36F7588-AD4A-4ED2-8D7F-4F05B5512DEA}"/>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DFC977D-F701-4EA3-A92D-E5CB3793E9A5}"/>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7C9A2820-DA70-4210-B0F2-827F8827BB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834F63-939E-4DEC-98C5-4B6EA6A54311}"/>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2886432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E16E6D1-5C03-4A4C-8350-F01E72C86CB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2038A80-5B5A-4E55-8584-9F23998B32B9}"/>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55684DE-FEA4-4959-BF5A-438EEFC196E4}"/>
              </a:ext>
            </a:extLst>
          </p:cNvPr>
          <p:cNvSpPr>
            <a:spLocks noGrp="1"/>
          </p:cNvSpPr>
          <p:nvPr>
            <p:ph type="dt" sz="half" idx="10"/>
          </p:nvPr>
        </p:nvSpPr>
        <p:spPr/>
        <p:txBody>
          <a:body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44997363-0E95-4B4D-AD49-AF23552F40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875CD3-C933-4966-B486-DA2BFE5276E3}"/>
              </a:ext>
            </a:extLst>
          </p:cNvPr>
          <p:cNvSpPr>
            <a:spLocks noGrp="1"/>
          </p:cNvSpPr>
          <p:nvPr>
            <p:ph type="sldNum" sz="quarter" idx="12"/>
          </p:nvPr>
        </p:nvSpPr>
        <p:spPr/>
        <p:txBody>
          <a:body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1506860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1D3D6E5-E685-4DAB-AE43-9C44117BB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4646AF0-614E-40E2-9D01-1CEF2D2F6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EA84C47-40D2-4A98-ADCF-9640E0989F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DEF26C-6CD4-40DB-8274-1716B183BF1C}" type="datetimeFigureOut">
              <a:rPr lang="zh-CN" altLang="en-US" smtClean="0"/>
              <a:t>2018/10/2</a:t>
            </a:fld>
            <a:endParaRPr lang="zh-CN" altLang="en-US"/>
          </a:p>
        </p:txBody>
      </p:sp>
      <p:sp>
        <p:nvSpPr>
          <p:cNvPr id="5" name="页脚占位符 4">
            <a:extLst>
              <a:ext uri="{FF2B5EF4-FFF2-40B4-BE49-F238E27FC236}">
                <a16:creationId xmlns:a16="http://schemas.microsoft.com/office/drawing/2014/main" id="{BF979D42-237E-4D57-B3C0-893ADA16FF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DB80922-FDDE-4AA5-B4A1-8B9DA04AEB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B33311-6274-4861-861A-8C12065D0736}" type="slidenum">
              <a:rPr lang="zh-CN" altLang="en-US" smtClean="0"/>
              <a:t>‹#›</a:t>
            </a:fld>
            <a:endParaRPr lang="zh-CN" altLang="en-US"/>
          </a:p>
        </p:txBody>
      </p:sp>
    </p:spTree>
    <p:extLst>
      <p:ext uri="{BB962C8B-B14F-4D97-AF65-F5344CB8AC3E}">
        <p14:creationId xmlns:p14="http://schemas.microsoft.com/office/powerpoint/2010/main" val="3880872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audio" Target="../media/audio2.wav"/><Relationship Id="rId7"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3.wav"/></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audio" Target="../media/audio7.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C0B0C05-ED9A-4DDA-98CF-FE4E462C38AC}"/>
              </a:ext>
            </a:extLst>
          </p:cNvPr>
          <p:cNvSpPr>
            <a:spLocks noGrp="1"/>
          </p:cNvSpPr>
          <p:nvPr>
            <p:ph type="subTitle" idx="1"/>
          </p:nvPr>
        </p:nvSpPr>
        <p:spPr>
          <a:xfrm>
            <a:off x="0" y="0"/>
            <a:ext cx="12192000" cy="6858000"/>
          </a:xfrm>
          <a:blipFill>
            <a:blip r:embed="rId2"/>
            <a:tile tx="0" ty="0" sx="100000" sy="100000" flip="none" algn="tl"/>
          </a:blipFill>
        </p:spPr>
        <p:txBody>
          <a:bodyPr/>
          <a:lstStyle/>
          <a:p>
            <a:endParaRPr lang="zh-CN" altLang="en-US" dirty="0"/>
          </a:p>
        </p:txBody>
      </p:sp>
      <p:sp>
        <p:nvSpPr>
          <p:cNvPr id="2" name="标题 1">
            <a:extLst>
              <a:ext uri="{FF2B5EF4-FFF2-40B4-BE49-F238E27FC236}">
                <a16:creationId xmlns:a16="http://schemas.microsoft.com/office/drawing/2014/main" id="{C7C6FA8C-ABA5-4CF0-B99D-54DD434A2F4F}"/>
              </a:ext>
            </a:extLst>
          </p:cNvPr>
          <p:cNvSpPr>
            <a:spLocks noGrp="1"/>
          </p:cNvSpPr>
          <p:nvPr>
            <p:ph type="ctrTitle"/>
          </p:nvPr>
        </p:nvSpPr>
        <p:spPr>
          <a:xfrm>
            <a:off x="5876460" y="3890665"/>
            <a:ext cx="9144000" cy="2387600"/>
          </a:xfrm>
        </p:spPr>
        <p:txBody>
          <a:bodyPr>
            <a:normAutofit/>
          </a:bodyPr>
          <a:lstStyle/>
          <a:p>
            <a:r>
              <a:rPr lang="zh-CN" altLang="en-US" sz="3000" u="sng" dirty="0">
                <a:solidFill>
                  <a:srgbClr val="FF0000"/>
                </a:solidFill>
              </a:rPr>
              <a:t>软件</a:t>
            </a:r>
            <a:r>
              <a:rPr lang="en-US" altLang="zh-CN" sz="3000" u="sng" dirty="0">
                <a:solidFill>
                  <a:srgbClr val="FF0000"/>
                </a:solidFill>
              </a:rPr>
              <a:t>181</a:t>
            </a:r>
            <a:br>
              <a:rPr lang="en-US" altLang="zh-CN" sz="3000" u="sng" dirty="0">
                <a:solidFill>
                  <a:srgbClr val="FF0000"/>
                </a:solidFill>
              </a:rPr>
            </a:br>
            <a:r>
              <a:rPr lang="zh-CN" altLang="en-US" sz="3000" u="sng" dirty="0">
                <a:solidFill>
                  <a:srgbClr val="FF0000"/>
                </a:solidFill>
              </a:rPr>
              <a:t>李胤徽</a:t>
            </a:r>
            <a:br>
              <a:rPr lang="en-US" altLang="zh-CN" sz="3000" u="sng" dirty="0">
                <a:solidFill>
                  <a:srgbClr val="FF0000"/>
                </a:solidFill>
              </a:rPr>
            </a:br>
            <a:r>
              <a:rPr lang="en-US" altLang="zh-CN" sz="3000" u="sng" dirty="0">
                <a:solidFill>
                  <a:srgbClr val="FF0000"/>
                </a:solidFill>
              </a:rPr>
              <a:t>2018.10.01</a:t>
            </a:r>
            <a:endParaRPr lang="zh-CN" altLang="en-US" sz="3000" u="sng" dirty="0">
              <a:solidFill>
                <a:srgbClr val="FF0000"/>
              </a:solidFill>
            </a:endParaRPr>
          </a:p>
        </p:txBody>
      </p:sp>
      <p:sp>
        <p:nvSpPr>
          <p:cNvPr id="4" name="矩形 3">
            <a:extLst>
              <a:ext uri="{FF2B5EF4-FFF2-40B4-BE49-F238E27FC236}">
                <a16:creationId xmlns:a16="http://schemas.microsoft.com/office/drawing/2014/main" id="{1FE522B6-51CF-4CAA-934B-ED8909744603}"/>
              </a:ext>
            </a:extLst>
          </p:cNvPr>
          <p:cNvSpPr/>
          <p:nvPr/>
        </p:nvSpPr>
        <p:spPr>
          <a:xfrm>
            <a:off x="1743540" y="2967335"/>
            <a:ext cx="8562680" cy="923330"/>
          </a:xfrm>
          <a:prstGeom prst="rect">
            <a:avLst/>
          </a:prstGeom>
          <a:noFill/>
          <a:ln>
            <a:noFill/>
          </a:ln>
          <a:effectLst>
            <a:glow rad="139700">
              <a:schemeClr val="accent4">
                <a:satMod val="175000"/>
                <a:alpha val="40000"/>
              </a:schemeClr>
            </a:glow>
          </a:effectLst>
        </p:spPr>
        <p:txBody>
          <a:bodyPr wrap="square" lIns="91440" tIns="45720" rIns="91440" bIns="45720">
            <a:prstTxWarp prst="textWave1">
              <a:avLst/>
            </a:prstTxWarp>
            <a:spAutoFit/>
            <a:scene3d>
              <a:camera prst="orthographicFront">
                <a:rot lat="0" lon="0" rev="0"/>
              </a:camera>
              <a:lightRig rig="threePt" dir="t"/>
            </a:scene3d>
          </a:bodyPr>
          <a:lstStyle/>
          <a:p>
            <a:pPr algn="ctr"/>
            <a:r>
              <a:rPr lang="zh-CN" altLang="en-US" sz="5400" b="1" dirty="0">
                <a:ln w="22225">
                  <a:solidFill>
                    <a:schemeClr val="accent2"/>
                  </a:solidFill>
                  <a:prstDash val="solid"/>
                </a:ln>
                <a:solidFill>
                  <a:schemeClr val="accent2">
                    <a:lumMod val="40000"/>
                    <a:lumOff val="60000"/>
                  </a:schemeClr>
                </a:solidFill>
                <a:effectLst>
                  <a:glow>
                    <a:schemeClr val="accent1">
                      <a:alpha val="91000"/>
                    </a:schemeClr>
                  </a:glow>
                  <a:outerShdw blurRad="88900" dist="279400" dir="5400000" sx="103000" sy="103000" algn="ctr" rotWithShape="0">
                    <a:srgbClr val="000000">
                      <a:alpha val="99000"/>
                    </a:srgbClr>
                  </a:outerShdw>
                </a:effectLst>
              </a:rPr>
              <a:t>大学生的心理健康</a:t>
            </a:r>
          </a:p>
        </p:txBody>
      </p:sp>
    </p:spTree>
    <p:extLst>
      <p:ext uri="{BB962C8B-B14F-4D97-AF65-F5344CB8AC3E}">
        <p14:creationId xmlns:p14="http://schemas.microsoft.com/office/powerpoint/2010/main" val="366473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6" presetClass="emph" presetSubtype="0" repeatCount="indefinite" fill="hold" grpId="1" nodeType="clickEffect">
                                  <p:stCondLst>
                                    <p:cond delay="200"/>
                                  </p:stCondLst>
                                  <p:endCondLst>
                                    <p:cond evt="onNext" delay="0">
                                      <p:tgtEl>
                                        <p:sldTgt/>
                                      </p:tgtEl>
                                    </p:cond>
                                  </p:endCondLst>
                                  <p:iterate type="lt">
                                    <p:tmPct val="10000"/>
                                  </p:iterate>
                                  <p:childTnLst>
                                    <p:animScale>
                                      <p:cBhvr>
                                        <p:cTn id="6" dur="5" autoRev="1" fill="hold">
                                          <p:stCondLst>
                                            <p:cond delay="0"/>
                                          </p:stCondLst>
                                        </p:cTn>
                                        <p:tgtEl>
                                          <p:spTgt spid="4"/>
                                        </p:tgtEl>
                                      </p:cBhvr>
                                      <p:to x="80000" y="100000"/>
                                    </p:animScale>
                                    <p:anim by="(#ppt_w*0.10)" calcmode="lin" valueType="num">
                                      <p:cBhvr>
                                        <p:cTn id="7" dur="5" autoRev="1" fill="hold">
                                          <p:stCondLst>
                                            <p:cond delay="0"/>
                                          </p:stCondLst>
                                        </p:cTn>
                                        <p:tgtEl>
                                          <p:spTgt spid="4"/>
                                        </p:tgtEl>
                                        <p:attrNameLst>
                                          <p:attrName>ppt_x</p:attrName>
                                        </p:attrNameLst>
                                      </p:cBhvr>
                                    </p:anim>
                                    <p:anim by="(-#ppt_w*0.10)" calcmode="lin" valueType="num">
                                      <p:cBhvr>
                                        <p:cTn id="8" dur="5" autoRev="1" fill="hold">
                                          <p:stCondLst>
                                            <p:cond delay="0"/>
                                          </p:stCondLst>
                                        </p:cTn>
                                        <p:tgtEl>
                                          <p:spTgt spid="4"/>
                                        </p:tgtEl>
                                        <p:attrNameLst>
                                          <p:attrName>ppt_y</p:attrName>
                                        </p:attrNameLst>
                                      </p:cBhvr>
                                    </p:anim>
                                    <p:animRot by="-480000">
                                      <p:cBhvr>
                                        <p:cTn id="9" dur="5" autoRev="1" fill="hold">
                                          <p:stCondLst>
                                            <p:cond delay="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F9E91E2-BD9C-4AFE-9277-869CF9EC0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6754"/>
            <a:ext cx="12191999" cy="7404754"/>
          </a:xfrm>
          <a:prstGeom prst="rect">
            <a:avLst/>
          </a:prstGeom>
        </p:spPr>
      </p:pic>
      <p:sp>
        <p:nvSpPr>
          <p:cNvPr id="2" name="标题 1">
            <a:extLst>
              <a:ext uri="{FF2B5EF4-FFF2-40B4-BE49-F238E27FC236}">
                <a16:creationId xmlns:a16="http://schemas.microsoft.com/office/drawing/2014/main" id="{1E4FAFC6-9BCB-4A16-A5A6-F435ACF4D933}"/>
              </a:ext>
            </a:extLst>
          </p:cNvPr>
          <p:cNvSpPr>
            <a:spLocks noGrp="1"/>
          </p:cNvSpPr>
          <p:nvPr>
            <p:ph type="title"/>
          </p:nvPr>
        </p:nvSpPr>
        <p:spPr>
          <a:xfrm>
            <a:off x="730044" y="-342337"/>
            <a:ext cx="10515600" cy="1325563"/>
          </a:xfrm>
        </p:spPr>
        <p:txBody>
          <a:bodyPr/>
          <a:lstStyle/>
          <a:p>
            <a:pPr algn="ctr"/>
            <a:r>
              <a:rPr lang="zh-CN" altLang="en-US" b="1" dirty="0">
                <a:effectLst>
                  <a:outerShdw blurRad="38100" dist="38100" dir="2700000" algn="tl">
                    <a:srgbClr val="000000">
                      <a:alpha val="43137"/>
                    </a:srgbClr>
                  </a:outerShdw>
                </a:effectLst>
              </a:rPr>
              <a:t>心理健康？</a:t>
            </a:r>
          </a:p>
        </p:txBody>
      </p:sp>
      <p:sp>
        <p:nvSpPr>
          <p:cNvPr id="3" name="内容占位符 2">
            <a:extLst>
              <a:ext uri="{FF2B5EF4-FFF2-40B4-BE49-F238E27FC236}">
                <a16:creationId xmlns:a16="http://schemas.microsoft.com/office/drawing/2014/main" id="{36276D18-3241-49A4-8634-289EC074060D}"/>
              </a:ext>
            </a:extLst>
          </p:cNvPr>
          <p:cNvSpPr>
            <a:spLocks noGrp="1"/>
          </p:cNvSpPr>
          <p:nvPr>
            <p:ph idx="1"/>
          </p:nvPr>
        </p:nvSpPr>
        <p:spPr>
          <a:xfrm>
            <a:off x="838200" y="629265"/>
            <a:ext cx="10515600" cy="6228735"/>
          </a:xfrm>
        </p:spPr>
        <p:txBody>
          <a:bodyPr numCol="1">
            <a:normAutofit/>
          </a:bodyPr>
          <a:lstStyle/>
          <a:p>
            <a:pPr marL="0" indent="0">
              <a:buNone/>
            </a:pPr>
            <a:r>
              <a:rPr lang="zh-CN" altLang="en-US" b="1" dirty="0">
                <a:solidFill>
                  <a:schemeClr val="accent1">
                    <a:lumMod val="75000"/>
                  </a:schemeClr>
                </a:solidFill>
              </a:rPr>
              <a:t>    </a:t>
            </a:r>
            <a:endParaRPr lang="en-US" altLang="zh-CN" b="1" dirty="0">
              <a:solidFill>
                <a:schemeClr val="accent1">
                  <a:lumMod val="75000"/>
                </a:schemeClr>
              </a:solidFill>
            </a:endParaRPr>
          </a:p>
          <a:p>
            <a:pPr marL="0" indent="0">
              <a:buNone/>
            </a:pPr>
            <a:r>
              <a:rPr lang="en-US" altLang="zh-CN" b="1" dirty="0">
                <a:solidFill>
                  <a:schemeClr val="accent1">
                    <a:lumMod val="75000"/>
                  </a:schemeClr>
                </a:solidFill>
              </a:rPr>
              <a:t>    </a:t>
            </a:r>
            <a:r>
              <a:rPr lang="zh-CN" altLang="en-US" b="1" dirty="0">
                <a:solidFill>
                  <a:schemeClr val="accent1">
                    <a:lumMod val="75000"/>
                  </a:schemeClr>
                </a:solidFill>
                <a:latin typeface="仿宋" panose="02010609060101010101" pitchFamily="49" charset="-122"/>
                <a:ea typeface="仿宋" panose="02010609060101010101" pitchFamily="49" charset="-122"/>
              </a:rPr>
              <a:t>心理健康是指个体能够适应和发展着的环境，具有完善的个性特征；且其认知、情绪反应、意志行为处于积极状态，并能保持正常的调控能力。从广义上讲，心理健康是指一种高效而满意的、持续的心理状态。从狭义上讲，心理健康是指人的基本心理活动的过程内容完整、协调一致，即认识、情感、意志、行为、人格完整和协调，能适应社会，与社会保持同步。心理健康的基本含义是指心理的各个方面及活动过程处于一种良好或正常的状态。心理健康的理想状态是保持性格完美、智力正常、认知正确、情感适当、意志合理、态度积极、行为恰当、适应良好的状态。与心理健康相对应的是心理亚健康以及心理病态。心理健康从不同的角度有不同的含义，衡量标准也有所不同。大多与遗传（基因）相关。心理健康突出在社交、生产、生活上能与其他人保持较好的沟通或配合</a:t>
            </a:r>
            <a:r>
              <a:rPr lang="zh-CN" altLang="en-US" b="1" dirty="0">
                <a:solidFill>
                  <a:schemeClr val="accent1">
                    <a:lumMod val="75000"/>
                  </a:schemeClr>
                </a:solidFill>
              </a:rPr>
              <a:t>。</a:t>
            </a:r>
          </a:p>
          <a:p>
            <a:pPr marL="0" indent="0">
              <a:buNone/>
            </a:pPr>
            <a:endParaRPr lang="zh-CN" altLang="en-US" b="1" dirty="0">
              <a:solidFill>
                <a:schemeClr val="accent1">
                  <a:lumMod val="75000"/>
                </a:schemeClr>
              </a:solidFill>
            </a:endParaRPr>
          </a:p>
          <a:p>
            <a:pPr marL="0" indent="0">
              <a:buNone/>
            </a:pPr>
            <a:endParaRPr lang="zh-CN" altLang="en-US" b="1" dirty="0">
              <a:solidFill>
                <a:schemeClr val="accent1">
                  <a:lumMod val="75000"/>
                </a:schemeClr>
              </a:solidFill>
            </a:endParaRPr>
          </a:p>
          <a:p>
            <a:pPr marL="0" indent="0">
              <a:buNone/>
            </a:pPr>
            <a:endParaRPr lang="zh-CN" altLang="en-US" b="1" dirty="0">
              <a:solidFill>
                <a:schemeClr val="accent1">
                  <a:lumMod val="75000"/>
                </a:schemeClr>
              </a:solidFill>
            </a:endParaRPr>
          </a:p>
        </p:txBody>
      </p:sp>
      <p:sp>
        <p:nvSpPr>
          <p:cNvPr id="4" name="矩形 3">
            <a:extLst>
              <a:ext uri="{FF2B5EF4-FFF2-40B4-BE49-F238E27FC236}">
                <a16:creationId xmlns:a16="http://schemas.microsoft.com/office/drawing/2014/main" id="{834F43B9-029C-472D-92E5-D4427428F9A8}"/>
              </a:ext>
            </a:extLst>
          </p:cNvPr>
          <p:cNvSpPr/>
          <p:nvPr/>
        </p:nvSpPr>
        <p:spPr>
          <a:xfrm>
            <a:off x="5844969" y="3244334"/>
            <a:ext cx="502061" cy="369332"/>
          </a:xfrm>
          <a:prstGeom prst="rect">
            <a:avLst/>
          </a:prstGeom>
        </p:spPr>
        <p:txBody>
          <a:bodyPr wrap="none">
            <a:spAutoFit/>
          </a:bodyPr>
          <a:lstStyle/>
          <a:p>
            <a:r>
              <a:rPr lang="zh-CN" altLang="en-US" dirty="0"/>
              <a:t>♣</a:t>
            </a:r>
          </a:p>
        </p:txBody>
      </p:sp>
    </p:spTree>
    <p:extLst>
      <p:ext uri="{BB962C8B-B14F-4D97-AF65-F5344CB8AC3E}">
        <p14:creationId xmlns:p14="http://schemas.microsoft.com/office/powerpoint/2010/main" val="315602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D0599-264E-4753-9AE9-20753741F0F9}"/>
              </a:ext>
            </a:extLst>
          </p:cNvPr>
          <p:cNvSpPr>
            <a:spLocks noGrp="1"/>
          </p:cNvSpPr>
          <p:nvPr>
            <p:ph type="title"/>
          </p:nvPr>
        </p:nvSpPr>
        <p:spPr>
          <a:xfrm>
            <a:off x="985684" y="18255"/>
            <a:ext cx="10515600" cy="1325563"/>
          </a:xfrm>
        </p:spPr>
        <p:txBody>
          <a:bodyPr/>
          <a:lstStyle/>
          <a:p>
            <a:pPr algn="ctr"/>
            <a:endParaRPr lang="zh-CN" altLang="en-US" dirty="0"/>
          </a:p>
        </p:txBody>
      </p:sp>
      <p:pic>
        <p:nvPicPr>
          <p:cNvPr id="6" name="图片 5">
            <a:extLst>
              <a:ext uri="{FF2B5EF4-FFF2-40B4-BE49-F238E27FC236}">
                <a16:creationId xmlns:a16="http://schemas.microsoft.com/office/drawing/2014/main" id="{DC1A7726-D797-47CE-A60A-FEF5D7364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55"/>
            <a:ext cx="12191999" cy="7542751"/>
          </a:xfrm>
          <a:prstGeom prst="rect">
            <a:avLst/>
          </a:prstGeom>
        </p:spPr>
      </p:pic>
      <p:sp>
        <p:nvSpPr>
          <p:cNvPr id="3" name="内容占位符 2">
            <a:extLst>
              <a:ext uri="{FF2B5EF4-FFF2-40B4-BE49-F238E27FC236}">
                <a16:creationId xmlns:a16="http://schemas.microsoft.com/office/drawing/2014/main" id="{72253625-0384-4E97-B2B6-867386590718}"/>
              </a:ext>
            </a:extLst>
          </p:cNvPr>
          <p:cNvSpPr>
            <a:spLocks noGrp="1"/>
          </p:cNvSpPr>
          <p:nvPr>
            <p:ph idx="1"/>
          </p:nvPr>
        </p:nvSpPr>
        <p:spPr/>
        <p:txBody>
          <a:bodyPr/>
          <a:lstStyle/>
          <a:p>
            <a:pPr algn="just"/>
            <a:r>
              <a:rPr lang="zh-CN" altLang="en-US" dirty="0"/>
              <a:t>来自学校、家庭、社交、事业、爱情等方面的压力过大并且不能很好地释放，导致情绪压抑，思想消极，最终导致心理状态处于不健康或者亚健康状态！</a:t>
            </a:r>
            <a:endParaRPr lang="en-US" altLang="zh-CN" dirty="0"/>
          </a:p>
          <a:p>
            <a:pPr algn="just"/>
            <a:endParaRPr lang="en-US" altLang="zh-CN" dirty="0"/>
          </a:p>
          <a:p>
            <a:pPr algn="just"/>
            <a:r>
              <a:rPr lang="zh-CN" altLang="en-US" dirty="0"/>
              <a:t>由于一些负面的情绪和一些不健康心理逐渐演变而来。例如：自卑，怯懦，猜疑，排异等。</a:t>
            </a:r>
            <a:endParaRPr lang="en-US" altLang="zh-CN" dirty="0"/>
          </a:p>
          <a:p>
            <a:pPr algn="just"/>
            <a:endParaRPr lang="en-US" altLang="zh-CN" dirty="0"/>
          </a:p>
          <a:p>
            <a:pPr algn="just"/>
            <a:r>
              <a:rPr lang="zh-CN" altLang="en-US" dirty="0"/>
              <a:t>曾经收到过极其严重的心理创伤，导致一直活在过去的阴影之下，无法走出</a:t>
            </a:r>
          </a:p>
        </p:txBody>
      </p:sp>
      <p:sp>
        <p:nvSpPr>
          <p:cNvPr id="4" name="矩形 3">
            <a:extLst>
              <a:ext uri="{FF2B5EF4-FFF2-40B4-BE49-F238E27FC236}">
                <a16:creationId xmlns:a16="http://schemas.microsoft.com/office/drawing/2014/main" id="{CC8D902B-D6AA-41D3-90E9-C8A449FC9C01}"/>
              </a:ext>
            </a:extLst>
          </p:cNvPr>
          <p:cNvSpPr/>
          <p:nvPr/>
        </p:nvSpPr>
        <p:spPr>
          <a:xfrm>
            <a:off x="2446602" y="-169604"/>
            <a:ext cx="7298794" cy="1754326"/>
          </a:xfrm>
          <a:prstGeom prst="rect">
            <a:avLst/>
          </a:prstGeom>
          <a:noFill/>
          <a:scene3d>
            <a:camera prst="orthographicFront"/>
            <a:lightRig rig="threePt" dir="t"/>
          </a:scene3d>
          <a:sp3d>
            <a:bevelT prst="relaxedInset"/>
          </a:sp3d>
        </p:spPr>
        <p:txBody>
          <a:bodyPr wrap="none" lIns="91440" tIns="45720" rIns="91440" bIns="45720">
            <a:prstTxWarp prst="textDeflateTop">
              <a:avLst/>
            </a:prstTxWarp>
            <a:spAutoFit/>
          </a:bodyPr>
          <a:lstStyle/>
          <a:p>
            <a:pPr algn="ctr"/>
            <a:r>
              <a:rPr lang="zh-CN" altLang="en-US" sz="5400" b="1" dirty="0">
                <a:ln w="22225">
                  <a:solidFill>
                    <a:schemeClr val="tx1">
                      <a:lumMod val="85000"/>
                      <a:lumOff val="15000"/>
                    </a:schemeClr>
                  </a:solidFill>
                  <a:prstDash val="solid"/>
                </a:ln>
                <a:solidFill>
                  <a:schemeClr val="bg2">
                    <a:lumMod val="75000"/>
                  </a:schemeClr>
                </a:solidFill>
              </a:rPr>
              <a:t>为什么心理状态会处于</a:t>
            </a:r>
            <a:endParaRPr lang="en-US" altLang="zh-CN" sz="5400" b="1" dirty="0">
              <a:ln w="22225">
                <a:solidFill>
                  <a:schemeClr val="tx1">
                    <a:lumMod val="85000"/>
                    <a:lumOff val="15000"/>
                  </a:schemeClr>
                </a:solidFill>
                <a:prstDash val="solid"/>
              </a:ln>
              <a:solidFill>
                <a:schemeClr val="bg2">
                  <a:lumMod val="75000"/>
                </a:schemeClr>
              </a:solidFill>
            </a:endParaRPr>
          </a:p>
          <a:p>
            <a:pPr algn="ctr"/>
            <a:r>
              <a:rPr lang="zh-CN" altLang="en-US" sz="5400" b="1" dirty="0">
                <a:ln w="22225">
                  <a:solidFill>
                    <a:schemeClr val="tx1">
                      <a:lumMod val="85000"/>
                      <a:lumOff val="15000"/>
                    </a:schemeClr>
                  </a:solidFill>
                  <a:prstDash val="solid"/>
                </a:ln>
                <a:solidFill>
                  <a:schemeClr val="bg2">
                    <a:lumMod val="75000"/>
                  </a:schemeClr>
                </a:solidFill>
              </a:rPr>
              <a:t> 不健康或者亚健康状态</a:t>
            </a:r>
          </a:p>
        </p:txBody>
      </p:sp>
    </p:spTree>
    <p:extLst>
      <p:ext uri="{BB962C8B-B14F-4D97-AF65-F5344CB8AC3E}">
        <p14:creationId xmlns:p14="http://schemas.microsoft.com/office/powerpoint/2010/main" val="3713142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0A2BD55-F832-49DA-8D3A-67657448A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01" y="0"/>
            <a:ext cx="12268802" cy="6858000"/>
          </a:xfrm>
          <a:prstGeom prst="rect">
            <a:avLst/>
          </a:prstGeom>
        </p:spPr>
      </p:pic>
      <p:sp>
        <p:nvSpPr>
          <p:cNvPr id="2" name="标题 1">
            <a:extLst>
              <a:ext uri="{FF2B5EF4-FFF2-40B4-BE49-F238E27FC236}">
                <a16:creationId xmlns:a16="http://schemas.microsoft.com/office/drawing/2014/main" id="{8CA7AF77-2E41-449B-9E24-0E4A1AAF1432}"/>
              </a:ext>
            </a:extLst>
          </p:cNvPr>
          <p:cNvSpPr>
            <a:spLocks noGrp="1"/>
          </p:cNvSpPr>
          <p:nvPr>
            <p:ph type="title"/>
          </p:nvPr>
        </p:nvSpPr>
        <p:spPr>
          <a:xfrm>
            <a:off x="838200" y="0"/>
            <a:ext cx="10515600" cy="1325563"/>
          </a:xfrm>
        </p:spPr>
        <p:txBody>
          <a:bodyPr/>
          <a:lstStyle/>
          <a:p>
            <a:pPr algn="ctr"/>
            <a:r>
              <a:rPr lang="zh-CN" altLang="en-US" b="1" i="1" kern="2000" spc="100" dirty="0">
                <a:effectLst>
                  <a:outerShdw blurRad="12700" dist="50800" dir="5400000" sx="13000" sy="13000" algn="ctr" rotWithShape="0">
                    <a:schemeClr val="bg2"/>
                  </a:outerShdw>
                </a:effectLst>
              </a:rPr>
              <a:t>心理不健康的危害</a:t>
            </a:r>
          </a:p>
        </p:txBody>
      </p:sp>
      <p:sp>
        <p:nvSpPr>
          <p:cNvPr id="3" name="内容占位符 2">
            <a:extLst>
              <a:ext uri="{FF2B5EF4-FFF2-40B4-BE49-F238E27FC236}">
                <a16:creationId xmlns:a16="http://schemas.microsoft.com/office/drawing/2014/main" id="{4C892B8C-4443-4A38-9D82-638DBD0C0748}"/>
              </a:ext>
            </a:extLst>
          </p:cNvPr>
          <p:cNvSpPr>
            <a:spLocks noGrp="1"/>
          </p:cNvSpPr>
          <p:nvPr>
            <p:ph idx="1"/>
          </p:nvPr>
        </p:nvSpPr>
        <p:spPr>
          <a:xfrm>
            <a:off x="838200" y="1558130"/>
            <a:ext cx="10515600" cy="5381149"/>
          </a:xfrm>
        </p:spPr>
        <p:txBody>
          <a:bodyPr>
            <a:normAutofit/>
          </a:bodyPr>
          <a:lstStyle/>
          <a:p>
            <a:r>
              <a:rPr lang="zh-CN" altLang="en-US" b="1" dirty="0">
                <a:latin typeface="微软雅黑" panose="020B0503020204020204" pitchFamily="34" charset="-122"/>
                <a:ea typeface="微软雅黑" panose="020B0503020204020204" pitchFamily="34" charset="-122"/>
              </a:rPr>
              <a:t>犯错误。由于心理不健康，会导致一个人犯很多错误，有的甚至是犯一些低级的错误。如：由于不善于控制情绪，有较严重的心理问题，而与同事打架，夫妻之间吵架，甚至动手打人，轻则犯错误，重则触犯刑法。</a:t>
            </a:r>
          </a:p>
          <a:p>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人生失败。很多人一辈子就碌碌无为，不仅事业不好，甚至婚姻也不好，其症结就是因为他们心理不健康。</a:t>
            </a:r>
            <a:br>
              <a:rPr lang="zh-CN" altLang="en-US" b="1" dirty="0">
                <a:latin typeface="微软雅黑" panose="020B0503020204020204" pitchFamily="34" charset="-122"/>
                <a:ea typeface="微软雅黑" panose="020B0503020204020204" pitchFamily="34" charset="-122"/>
              </a:rPr>
            </a:br>
            <a:endParaRPr lang="zh-CN" altLang="en-US"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人际关系糟糕。心理不健康者人际关系一般都非常糟糕。不但上司讨厌，同事也讨厌，回到家，爱人也讨厌。尤其是一些病态人格者，不但人际关系差，事业上也一事无成，有的甚至走上犯罪之路</a:t>
            </a:r>
          </a:p>
          <a:p>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0040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034A598-E037-465E-A5D0-DC73811AC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A390CBD4-3A4F-4C6B-9EB0-11CD01C59D6B}"/>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4079CC50-A80C-472D-9B36-8E0BB91087FE}"/>
              </a:ext>
            </a:extLst>
          </p:cNvPr>
          <p:cNvSpPr>
            <a:spLocks noGrp="1"/>
          </p:cNvSpPr>
          <p:nvPr>
            <p:ph idx="1"/>
          </p:nvPr>
        </p:nvSpPr>
        <p:spPr>
          <a:xfrm>
            <a:off x="284480" y="1825624"/>
            <a:ext cx="11633200" cy="5032375"/>
          </a:xfrm>
        </p:spPr>
        <p:txBody>
          <a:bodyPr>
            <a:normAutofit/>
          </a:bodyPr>
          <a:lstStyle/>
          <a:p>
            <a:r>
              <a:rPr lang="zh-CN" altLang="en-US" spc="300" dirty="0"/>
              <a:t>对新的学习环境不适应：大学的学习模式跟以前的大不相同，而当大一新生不能很好的适应生活环境与学习方式时，内心的心理障碍也就逐渐演变出来</a:t>
            </a:r>
            <a:r>
              <a:rPr lang="zh-CN" altLang="en-US" dirty="0"/>
              <a:t>。</a:t>
            </a:r>
            <a:endParaRPr lang="en-US" altLang="zh-CN" sz="3000" dirty="0"/>
          </a:p>
          <a:p>
            <a:endParaRPr lang="en-US" altLang="zh-CN" spc="300" dirty="0">
              <a:solidFill>
                <a:srgbClr val="FF0000"/>
              </a:solidFill>
            </a:endParaRPr>
          </a:p>
          <a:p>
            <a:r>
              <a:rPr lang="zh-CN" altLang="en-US" spc="300" dirty="0">
                <a:solidFill>
                  <a:srgbClr val="FF0000"/>
                </a:solidFill>
              </a:rPr>
              <a:t>人际关系处理不当：大学是个小型的社会，怎么与人相处也是大学生必要的一课，当不能很好的处理人际关系时，这也会成为大学生心中写不下的包袱</a:t>
            </a:r>
            <a:r>
              <a:rPr lang="zh-CN" altLang="en-US" dirty="0">
                <a:solidFill>
                  <a:srgbClr val="FF0000"/>
                </a:solidFill>
              </a:rPr>
              <a:t>。</a:t>
            </a:r>
            <a:endParaRPr lang="en-US" altLang="zh-CN" dirty="0">
              <a:solidFill>
                <a:srgbClr val="FF0000"/>
              </a:solidFill>
            </a:endParaRPr>
          </a:p>
          <a:p>
            <a:endParaRPr lang="en-US" altLang="zh-CN" dirty="0"/>
          </a:p>
          <a:p>
            <a:r>
              <a:rPr lang="zh-CN" altLang="en-US" dirty="0"/>
              <a:t>不良的生活习惯造成人格的缺失：由于大学需要的是更多的自制力，而那些缺乏自制力的同学在获得自由的同时也“收获了”许多不良的习惯，这些不好的习惯会对其心理造成不好的影响！</a:t>
            </a:r>
            <a:endParaRPr lang="en-US" altLang="zh-CN" dirty="0"/>
          </a:p>
          <a:p>
            <a:pPr marL="0" indent="0">
              <a:buNone/>
            </a:pPr>
            <a:endParaRPr lang="zh-CN" altLang="en-US" dirty="0"/>
          </a:p>
        </p:txBody>
      </p:sp>
      <p:sp>
        <p:nvSpPr>
          <p:cNvPr id="4" name="矩形 3">
            <a:extLst>
              <a:ext uri="{FF2B5EF4-FFF2-40B4-BE49-F238E27FC236}">
                <a16:creationId xmlns:a16="http://schemas.microsoft.com/office/drawing/2014/main" id="{6B0E8B67-E1E6-4064-800C-3161188FDFA5}"/>
              </a:ext>
            </a:extLst>
          </p:cNvPr>
          <p:cNvSpPr/>
          <p:nvPr/>
        </p:nvSpPr>
        <p:spPr>
          <a:xfrm>
            <a:off x="2509120" y="566241"/>
            <a:ext cx="7173759" cy="923330"/>
          </a:xfrm>
          <a:prstGeom prst="rect">
            <a:avLst/>
          </a:prstGeom>
          <a:noFill/>
          <a:effectLst>
            <a:innerShdw blurRad="63500" dist="50800" dir="16200000">
              <a:prstClr val="black">
                <a:alpha val="50000"/>
              </a:prstClr>
            </a:innerShdw>
          </a:effectLst>
        </p:spPr>
        <p:txBody>
          <a:bodyPr wrap="none" lIns="91440" tIns="45720" rIns="91440" bIns="45720">
            <a:spAutoFit/>
          </a:bodyPr>
          <a:lstStyle/>
          <a:p>
            <a:pPr algn="ctr"/>
            <a:r>
              <a:rPr lang="zh-CN" altLang="en-US" sz="5400" b="1" spc="50" dirty="0">
                <a:ln w="0">
                  <a:solidFill>
                    <a:sysClr val="windowText" lastClr="000000"/>
                  </a:solidFill>
                </a:ln>
                <a:solidFill>
                  <a:schemeClr val="bg2"/>
                </a:solidFill>
                <a:effectLst>
                  <a:glow rad="228600">
                    <a:schemeClr val="accent1">
                      <a:satMod val="175000"/>
                      <a:alpha val="40000"/>
                    </a:schemeClr>
                  </a:glow>
                  <a:innerShdw blurRad="63500" dist="50800" dir="18900000">
                    <a:prstClr val="black">
                      <a:alpha val="50000"/>
                    </a:prstClr>
                  </a:innerShdw>
                </a:effectLst>
              </a:rPr>
              <a:t>大学生存在的心理问题</a:t>
            </a:r>
            <a:endParaRPr lang="en-US" altLang="zh-CN" sz="5400" b="1" spc="50" dirty="0">
              <a:ln w="0">
                <a:solidFill>
                  <a:sysClr val="windowText" lastClr="000000"/>
                </a:solidFill>
              </a:ln>
              <a:solidFill>
                <a:schemeClr val="bg2"/>
              </a:solidFill>
              <a:effectLst>
                <a:glow rad="228600">
                  <a:schemeClr val="accent1">
                    <a:satMod val="175000"/>
                    <a:alpha val="40000"/>
                  </a:schemeClr>
                </a:glow>
                <a:innerShdw blurRad="63500" dist="50800" dir="18900000">
                  <a:prstClr val="black">
                    <a:alpha val="50000"/>
                  </a:prstClr>
                </a:innerShdw>
              </a:effectLst>
            </a:endParaRPr>
          </a:p>
        </p:txBody>
      </p:sp>
    </p:spTree>
    <p:extLst>
      <p:ext uri="{BB962C8B-B14F-4D97-AF65-F5344CB8AC3E}">
        <p14:creationId xmlns:p14="http://schemas.microsoft.com/office/powerpoint/2010/main" val="2381307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A0565-1784-4B6C-8AD3-4C649FB0C0FE}"/>
              </a:ext>
            </a:extLst>
          </p:cNvPr>
          <p:cNvSpPr>
            <a:spLocks noGrp="1"/>
          </p:cNvSpPr>
          <p:nvPr>
            <p:ph type="title"/>
          </p:nvPr>
        </p:nvSpPr>
        <p:spPr>
          <a:xfrm>
            <a:off x="419100" y="7389335"/>
            <a:ext cx="11353800" cy="827088"/>
          </a:xfrm>
        </p:spPr>
        <p:txBody>
          <a:bodyPr/>
          <a:lstStyle/>
          <a:p>
            <a:endParaRPr lang="zh-CN" altLang="en-US" dirty="0"/>
          </a:p>
        </p:txBody>
      </p:sp>
      <p:sp>
        <p:nvSpPr>
          <p:cNvPr id="3" name="内容占位符 2">
            <a:extLst>
              <a:ext uri="{FF2B5EF4-FFF2-40B4-BE49-F238E27FC236}">
                <a16:creationId xmlns:a16="http://schemas.microsoft.com/office/drawing/2014/main" id="{03190B29-BE0D-4AA5-97AB-A00B0ACBDEA0}"/>
              </a:ext>
            </a:extLst>
          </p:cNvPr>
          <p:cNvSpPr>
            <a:spLocks noGrp="1"/>
          </p:cNvSpPr>
          <p:nvPr>
            <p:ph idx="1"/>
          </p:nvPr>
        </p:nvSpPr>
        <p:spPr>
          <a:xfrm>
            <a:off x="838200" y="118744"/>
            <a:ext cx="10515600" cy="6464935"/>
          </a:xfrm>
        </p:spPr>
        <p:txBody>
          <a:bodyPr/>
          <a:lstStyle/>
          <a:p>
            <a:r>
              <a:rPr lang="zh-CN" altLang="en-US" dirty="0"/>
              <a:t>恋爱、感情方面的情感激荡：作为大学生的我们，在面对问题、处理问题时往往比较容易激动、冲动。尤其是在感情方面更加缺乏冷静的思考和健康的认识。</a:t>
            </a:r>
            <a:endParaRPr lang="en-US" altLang="zh-CN" dirty="0"/>
          </a:p>
          <a:p>
            <a:endParaRPr lang="en-US" altLang="zh-CN" dirty="0"/>
          </a:p>
          <a:p>
            <a:endParaRPr lang="en-US" altLang="zh-CN" dirty="0"/>
          </a:p>
          <a:p>
            <a:endParaRPr lang="en-US" altLang="zh-CN" dirty="0"/>
          </a:p>
          <a:p>
            <a:endParaRPr lang="en-US" altLang="zh-CN" dirty="0"/>
          </a:p>
          <a:p>
            <a:r>
              <a:rPr lang="zh-CN" altLang="en-US" dirty="0">
                <a:solidFill>
                  <a:schemeClr val="bg1"/>
                </a:solidFill>
              </a:rPr>
              <a:t>来自于择业求职等方面的压力：即将进入社会的大学生往往会被找工作这一难题压得喘不过气，感到担忧和困难。这些或多或少的都会影响当事人的心理状况</a:t>
            </a:r>
            <a:r>
              <a:rPr lang="zh-CN" altLang="en-US" dirty="0"/>
              <a:t>。</a:t>
            </a:r>
            <a:endParaRPr lang="en-US" altLang="zh-CN" dirty="0"/>
          </a:p>
        </p:txBody>
      </p:sp>
    </p:spTree>
    <p:extLst>
      <p:ext uri="{BB962C8B-B14F-4D97-AF65-F5344CB8AC3E}">
        <p14:creationId xmlns:p14="http://schemas.microsoft.com/office/powerpoint/2010/main" val="2660373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9E1E46C-48CB-4E92-BDBE-0382FE302D7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26E9255E-0979-4ED8-A5CC-91B1966C6C86}"/>
              </a:ext>
            </a:extLst>
          </p:cNvPr>
          <p:cNvSpPr>
            <a:spLocks noGrp="1"/>
          </p:cNvSpPr>
          <p:nvPr>
            <p:ph type="title"/>
          </p:nvPr>
        </p:nvSpPr>
        <p:spPr>
          <a:xfrm>
            <a:off x="849744" y="365125"/>
            <a:ext cx="10504055" cy="1325563"/>
          </a:xfrm>
        </p:spPr>
        <p:txBody>
          <a:bodyPr/>
          <a:lstStyle/>
          <a:p>
            <a:pPr algn="ctr"/>
            <a:r>
              <a:rPr lang="zh-CN" altLang="en-US" dirty="0"/>
              <a:t>如何解决大学生的心理问题</a:t>
            </a:r>
          </a:p>
        </p:txBody>
      </p:sp>
      <p:sp>
        <p:nvSpPr>
          <p:cNvPr id="3" name="内容占位符 2">
            <a:extLst>
              <a:ext uri="{FF2B5EF4-FFF2-40B4-BE49-F238E27FC236}">
                <a16:creationId xmlns:a16="http://schemas.microsoft.com/office/drawing/2014/main" id="{D1F3B76B-1949-46CF-829A-1D867D3FAD82}"/>
              </a:ext>
            </a:extLst>
          </p:cNvPr>
          <p:cNvSpPr>
            <a:spLocks noGrp="1"/>
          </p:cNvSpPr>
          <p:nvPr>
            <p:ph idx="1"/>
          </p:nvPr>
        </p:nvSpPr>
        <p:spPr/>
        <p:txBody>
          <a:bodyPr>
            <a:normAutofit fontScale="85000" lnSpcReduction="20000"/>
          </a:bodyPr>
          <a:lstStyle/>
          <a:p>
            <a:pPr algn="ctr"/>
            <a:r>
              <a:rPr lang="zh-CN" altLang="en-US" dirty="0"/>
              <a:t>正确认识自我</a:t>
            </a:r>
            <a:endParaRPr lang="en-US" altLang="zh-CN" dirty="0"/>
          </a:p>
          <a:p>
            <a:pPr algn="ctr"/>
            <a:endParaRPr lang="en-US" altLang="zh-CN" dirty="0"/>
          </a:p>
          <a:p>
            <a:pPr algn="ctr"/>
            <a:r>
              <a:rPr lang="zh-CN" altLang="en-US" dirty="0"/>
              <a:t>提高对挫折、失败的承受能力</a:t>
            </a:r>
            <a:endParaRPr lang="en-US" altLang="zh-CN" dirty="0"/>
          </a:p>
          <a:p>
            <a:pPr marL="0" indent="0" algn="ctr">
              <a:buNone/>
            </a:pPr>
            <a:endParaRPr lang="en-US" altLang="zh-CN" dirty="0"/>
          </a:p>
          <a:p>
            <a:pPr algn="ctr"/>
            <a:r>
              <a:rPr lang="zh-CN" altLang="en-US" dirty="0"/>
              <a:t>提高自己的思想认识</a:t>
            </a:r>
            <a:endParaRPr lang="en-US" altLang="zh-CN" dirty="0"/>
          </a:p>
          <a:p>
            <a:pPr algn="ctr"/>
            <a:endParaRPr lang="en-US" altLang="zh-CN" dirty="0"/>
          </a:p>
          <a:p>
            <a:pPr algn="ctr"/>
            <a:r>
              <a:rPr lang="zh-CN" altLang="en-US" dirty="0"/>
              <a:t>树立科学的人生观</a:t>
            </a:r>
            <a:endParaRPr lang="en-US" altLang="zh-CN" dirty="0"/>
          </a:p>
          <a:p>
            <a:pPr algn="ctr"/>
            <a:endParaRPr lang="en-US" altLang="zh-CN" dirty="0"/>
          </a:p>
          <a:p>
            <a:pPr algn="ctr"/>
            <a:r>
              <a:rPr lang="zh-CN" altLang="en-US" dirty="0"/>
              <a:t>积极参加各类实践活动</a:t>
            </a:r>
            <a:endParaRPr lang="en-US" altLang="zh-CN" dirty="0"/>
          </a:p>
          <a:p>
            <a:pPr algn="ctr"/>
            <a:endParaRPr lang="en-US" altLang="zh-CN" dirty="0"/>
          </a:p>
          <a:p>
            <a:pPr algn="ctr"/>
            <a:r>
              <a:rPr lang="zh-CN" altLang="en-US" dirty="0"/>
              <a:t>增加阅读量，不断丰富自我</a:t>
            </a:r>
            <a:endParaRPr lang="en-US" altLang="zh-CN" dirty="0"/>
          </a:p>
          <a:p>
            <a:endParaRPr lang="zh-CN" altLang="en-US" dirty="0"/>
          </a:p>
        </p:txBody>
      </p:sp>
    </p:spTree>
    <p:extLst>
      <p:ext uri="{BB962C8B-B14F-4D97-AF65-F5344CB8AC3E}">
        <p14:creationId xmlns:p14="http://schemas.microsoft.com/office/powerpoint/2010/main" val="386716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ntr" presetSubtype="0" repeatCount="indefinite" fill="remove"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ppt_x</p:attrName>
                                        </p:attrNameLst>
                                      </p:cBhvr>
                                      <p:tavLst>
                                        <p:tav tm="0">
                                          <p:val>
                                            <p:strVal val="#ppt_x"/>
                                          </p:val>
                                        </p:tav>
                                        <p:tav tm="100000">
                                          <p:val>
                                            <p:strVal val="#ppt_x"/>
                                          </p:val>
                                        </p:tav>
                                      </p:tavLst>
                                    </p:anim>
                                    <p:anim calcmode="lin" valueType="num">
                                      <p:cBhvr>
                                        <p:cTn id="8" dur="5000" fill="hold"/>
                                        <p:tgtEl>
                                          <p:spTgt spid="2"/>
                                        </p:tgtEl>
                                        <p:attrNameLst>
                                          <p:attrName>ppt_y</p:attrName>
                                        </p:attrNameLst>
                                      </p:cBhvr>
                                      <p:tavLst>
                                        <p:tav tm="0">
                                          <p:val>
                                            <p:strVal val="#ppt_y+1"/>
                                          </p:val>
                                        </p:tav>
                                        <p:tav tm="100000">
                                          <p:val>
                                            <p:strVal val="#ppt_y-1"/>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EXPLODE.WAV"/>
                                        </p:tgtEl>
                                      </p:cMediaNode>
                                    </p:audio>
                                  </p:subTnLst>
                                </p:cTn>
                              </p:par>
                            </p:childTnLst>
                          </p:cTn>
                        </p:par>
                      </p:childTnLst>
                    </p:cTn>
                  </p:par>
                  <p:par>
                    <p:cTn id="17" fill="hold">
                      <p:stCondLst>
                        <p:cond delay="indefinite"/>
                      </p:stCondLst>
                      <p:childTnLst>
                        <p:par>
                          <p:cTn id="18" fill="hold">
                            <p:stCondLst>
                              <p:cond delay="0"/>
                            </p:stCondLst>
                            <p:childTnLst>
                              <p:par>
                                <p:cTn id="19" presetID="19" presetClass="entr" presetSubtype="1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2" dur="5000" fill="hold"/>
                                        <p:tgtEl>
                                          <p:spTgt spid="3">
                                            <p:txEl>
                                              <p:pRg st="2" end="2"/>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
                                            </p:cond>
                                          </p:stCondLst>
                                          <p:endCondLst>
                                            <p:cond evt="onStopAudio" delay="0">
                                              <p:tgtEl>
                                                <p:sldTgt/>
                                              </p:tgtEl>
                                            </p:cond>
                                          </p:endCondLst>
                                        </p:cTn>
                                        <p:tgtEl>
                                          <p:sndTgt r:embed="rId3" name="HAMMER.WAV"/>
                                        </p:tgtEl>
                                      </p:cMediaNode>
                                    </p:audio>
                                  </p:subTnLst>
                                </p:cTn>
                              </p:par>
                            </p:childTnLst>
                          </p:cTn>
                        </p:par>
                      </p:childTnLst>
                    </p:cTn>
                  </p:par>
                  <p:par>
                    <p:cTn id="23" fill="hold">
                      <p:stCondLst>
                        <p:cond delay="indefinite"/>
                      </p:stCondLst>
                      <p:childTnLst>
                        <p:par>
                          <p:cTn id="24" fill="hold">
                            <p:stCondLst>
                              <p:cond delay="0"/>
                            </p:stCondLst>
                            <p:childTnLst>
                              <p:par>
                                <p:cTn id="25" presetID="35"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anim calcmode="lin" valueType="num">
                                      <p:cBhvr>
                                        <p:cTn id="28" dur="2000" fill="hold"/>
                                        <p:tgtEl>
                                          <p:spTgt spid="3">
                                            <p:txEl>
                                              <p:pRg st="4" end="4"/>
                                            </p:txEl>
                                          </p:spTgt>
                                        </p:tgtEl>
                                        <p:attrNameLst>
                                          <p:attrName>style.rotation</p:attrName>
                                        </p:attrNameLst>
                                      </p:cBhvr>
                                      <p:tavLst>
                                        <p:tav tm="0">
                                          <p:val>
                                            <p:fltVal val="720"/>
                                          </p:val>
                                        </p:tav>
                                        <p:tav tm="100000">
                                          <p:val>
                                            <p:fltVal val="0"/>
                                          </p:val>
                                        </p:tav>
                                      </p:tavLst>
                                    </p:anim>
                                    <p:anim calcmode="lin" valueType="num">
                                      <p:cBhvr>
                                        <p:cTn id="29" dur="2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0" dur="2000" fill="hold"/>
                                        <p:tgtEl>
                                          <p:spTgt spid="3">
                                            <p:txEl>
                                              <p:pRg st="4" end="4"/>
                                            </p:txEl>
                                          </p:spTgt>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25"/>
                                            </p:cond>
                                          </p:stCondLst>
                                          <p:endCondLst>
                                            <p:cond evt="onStopAudio" delay="0">
                                              <p:tgtEl>
                                                <p:sldTgt/>
                                              </p:tgtEl>
                                            </p:cond>
                                          </p:endCondLst>
                                        </p:cTn>
                                        <p:tgtEl>
                                          <p:sndTgt r:embed="rId4" name="BOMB.WAV"/>
                                        </p:tgtEl>
                                      </p:cMediaNode>
                                    </p:audio>
                                  </p:subTnLst>
                                </p:cTn>
                              </p:par>
                            </p:childTnLst>
                          </p:cTn>
                        </p:par>
                      </p:childTnLst>
                    </p:cTn>
                  </p:par>
                  <p:par>
                    <p:cTn id="31" fill="hold">
                      <p:stCondLst>
                        <p:cond delay="indefinite"/>
                      </p:stCondLst>
                      <p:childTnLst>
                        <p:par>
                          <p:cTn id="32" fill="hold">
                            <p:stCondLst>
                              <p:cond delay="0"/>
                            </p:stCondLst>
                            <p:childTnLst>
                              <p:par>
                                <p:cTn id="33" presetID="26"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80">
                                          <p:stCondLst>
                                            <p:cond delay="0"/>
                                          </p:stCondLst>
                                        </p:cTn>
                                        <p:tgtEl>
                                          <p:spTgt spid="3">
                                            <p:txEl>
                                              <p:pRg st="6" end="6"/>
                                            </p:txEl>
                                          </p:spTgt>
                                        </p:tgtEl>
                                      </p:cBhvr>
                                    </p:animEffect>
                                    <p:anim calcmode="lin" valueType="num">
                                      <p:cBhvr>
                                        <p:cTn id="3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3">
                                            <p:txEl>
                                              <p:pRg st="6" end="6"/>
                                            </p:txEl>
                                          </p:spTgt>
                                        </p:tgtEl>
                                      </p:cBhvr>
                                      <p:to x="100000" y="60000"/>
                                    </p:animScale>
                                    <p:animScale>
                                      <p:cBhvr>
                                        <p:cTn id="42" dur="166" decel="50000">
                                          <p:stCondLst>
                                            <p:cond delay="676"/>
                                          </p:stCondLst>
                                        </p:cTn>
                                        <p:tgtEl>
                                          <p:spTgt spid="3">
                                            <p:txEl>
                                              <p:pRg st="6" end="6"/>
                                            </p:txEl>
                                          </p:spTgt>
                                        </p:tgtEl>
                                      </p:cBhvr>
                                      <p:to x="100000" y="100000"/>
                                    </p:animScale>
                                    <p:animScale>
                                      <p:cBhvr>
                                        <p:cTn id="43" dur="26">
                                          <p:stCondLst>
                                            <p:cond delay="1312"/>
                                          </p:stCondLst>
                                        </p:cTn>
                                        <p:tgtEl>
                                          <p:spTgt spid="3">
                                            <p:txEl>
                                              <p:pRg st="6" end="6"/>
                                            </p:txEl>
                                          </p:spTgt>
                                        </p:tgtEl>
                                      </p:cBhvr>
                                      <p:to x="100000" y="80000"/>
                                    </p:animScale>
                                    <p:animScale>
                                      <p:cBhvr>
                                        <p:cTn id="44" dur="166" decel="50000">
                                          <p:stCondLst>
                                            <p:cond delay="1338"/>
                                          </p:stCondLst>
                                        </p:cTn>
                                        <p:tgtEl>
                                          <p:spTgt spid="3">
                                            <p:txEl>
                                              <p:pRg st="6" end="6"/>
                                            </p:txEl>
                                          </p:spTgt>
                                        </p:tgtEl>
                                      </p:cBhvr>
                                      <p:to x="100000" y="100000"/>
                                    </p:animScale>
                                    <p:animScale>
                                      <p:cBhvr>
                                        <p:cTn id="45" dur="26">
                                          <p:stCondLst>
                                            <p:cond delay="1642"/>
                                          </p:stCondLst>
                                        </p:cTn>
                                        <p:tgtEl>
                                          <p:spTgt spid="3">
                                            <p:txEl>
                                              <p:pRg st="6" end="6"/>
                                            </p:txEl>
                                          </p:spTgt>
                                        </p:tgtEl>
                                      </p:cBhvr>
                                      <p:to x="100000" y="90000"/>
                                    </p:animScale>
                                    <p:animScale>
                                      <p:cBhvr>
                                        <p:cTn id="46" dur="166" decel="50000">
                                          <p:stCondLst>
                                            <p:cond delay="1668"/>
                                          </p:stCondLst>
                                        </p:cTn>
                                        <p:tgtEl>
                                          <p:spTgt spid="3">
                                            <p:txEl>
                                              <p:pRg st="6" end="6"/>
                                            </p:txEl>
                                          </p:spTgt>
                                        </p:tgtEl>
                                      </p:cBhvr>
                                      <p:to x="100000" y="100000"/>
                                    </p:animScale>
                                    <p:animScale>
                                      <p:cBhvr>
                                        <p:cTn id="47" dur="26">
                                          <p:stCondLst>
                                            <p:cond delay="1808"/>
                                          </p:stCondLst>
                                        </p:cTn>
                                        <p:tgtEl>
                                          <p:spTgt spid="3">
                                            <p:txEl>
                                              <p:pRg st="6" end="6"/>
                                            </p:txEl>
                                          </p:spTgt>
                                        </p:tgtEl>
                                      </p:cBhvr>
                                      <p:to x="100000" y="95000"/>
                                    </p:animScale>
                                    <p:animScale>
                                      <p:cBhvr>
                                        <p:cTn id="48" dur="166" decel="50000">
                                          <p:stCondLst>
                                            <p:cond delay="1834"/>
                                          </p:stCondLst>
                                        </p:cTn>
                                        <p:tgtEl>
                                          <p:spTgt spid="3">
                                            <p:txEl>
                                              <p:pRg st="6" end="6"/>
                                            </p:txEl>
                                          </p:spTgt>
                                        </p:tgtEl>
                                      </p:cBhvr>
                                      <p:to x="100000" y="100000"/>
                                    </p:animScale>
                                  </p:childTnLst>
                                  <p:subTnLst>
                                    <p:audio>
                                      <p:cMediaNode>
                                        <p:cTn display="0" masterRel="sameClick">
                                          <p:stCondLst>
                                            <p:cond evt="begin" delay="0">
                                              <p:tn val="33"/>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p:cTn id="5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5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55" dur="500"/>
                                        <p:tgtEl>
                                          <p:spTgt spid="3">
                                            <p:txEl>
                                              <p:pRg st="8" end="8"/>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6" name="PUSH.WAV"/>
                                        </p:tgtEl>
                                      </p:cMediaNode>
                                    </p:audio>
                                  </p:subTnLst>
                                </p:cTn>
                              </p:par>
                            </p:childTnLst>
                          </p:cTn>
                        </p:par>
                      </p:childTnLst>
                    </p:cTn>
                  </p:par>
                  <p:par>
                    <p:cTn id="56" fill="hold">
                      <p:stCondLst>
                        <p:cond delay="indefinite"/>
                      </p:stCondLst>
                      <p:childTnLst>
                        <p:par>
                          <p:cTn id="57" fill="hold">
                            <p:stCondLst>
                              <p:cond delay="0"/>
                            </p:stCondLst>
                            <p:childTnLst>
                              <p:par>
                                <p:cTn id="58" presetID="13" presetClass="entr" presetSubtype="16" fill="hold" nodeType="click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plus(in)">
                                      <p:cBhvr>
                                        <p:cTn id="60" dur="2000"/>
                                        <p:tgtEl>
                                          <p:spTgt spid="3">
                                            <p:txEl>
                                              <p:pRg st="10" end="1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7"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ABD9B9F-EE5B-4DE3-93A0-947F24803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3891"/>
            <a:ext cx="12071926" cy="6931891"/>
          </a:xfrm>
          <a:prstGeom prst="rect">
            <a:avLst/>
          </a:prstGeom>
        </p:spPr>
      </p:pic>
      <p:sp>
        <p:nvSpPr>
          <p:cNvPr id="2" name="标题 1">
            <a:extLst>
              <a:ext uri="{FF2B5EF4-FFF2-40B4-BE49-F238E27FC236}">
                <a16:creationId xmlns:a16="http://schemas.microsoft.com/office/drawing/2014/main" id="{7EA351AE-10EF-45AB-8524-069039969A44}"/>
              </a:ext>
            </a:extLst>
          </p:cNvPr>
          <p:cNvSpPr>
            <a:spLocks noGrp="1"/>
          </p:cNvSpPr>
          <p:nvPr>
            <p:ph type="title"/>
          </p:nvPr>
        </p:nvSpPr>
        <p:spPr/>
        <p:txBody>
          <a:bodyPr>
            <a:normAutofit/>
          </a:bodyPr>
          <a:lstStyle/>
          <a:p>
            <a:pPr algn="ctr"/>
            <a:endParaRPr lang="zh-CN" altLang="en-US" dirty="0"/>
          </a:p>
        </p:txBody>
      </p:sp>
      <p:sp>
        <p:nvSpPr>
          <p:cNvPr id="3" name="内容占位符 2">
            <a:extLst>
              <a:ext uri="{FF2B5EF4-FFF2-40B4-BE49-F238E27FC236}">
                <a16:creationId xmlns:a16="http://schemas.microsoft.com/office/drawing/2014/main" id="{1267217E-765E-44EF-9FEE-D8B85E72A02F}"/>
              </a:ext>
            </a:extLst>
          </p:cNvPr>
          <p:cNvSpPr>
            <a:spLocks noGrp="1"/>
          </p:cNvSpPr>
          <p:nvPr>
            <p:ph idx="1"/>
          </p:nvPr>
        </p:nvSpPr>
        <p:spPr/>
        <p:txBody>
          <a:bodyPr/>
          <a:lstStyle/>
          <a:p>
            <a:pPr marL="0" indent="0" algn="ctr">
              <a:buNone/>
            </a:pPr>
            <a:r>
              <a:rPr lang="zh-CN" altLang="en-US" dirty="0"/>
              <a:t>祝大家在大学能健康成长，收获颇多！</a:t>
            </a:r>
            <a:endParaRPr lang="en-US" altLang="zh-CN" dirty="0"/>
          </a:p>
          <a:p>
            <a:pPr marL="0" indent="0" algn="ctr">
              <a:buNone/>
            </a:pPr>
            <a:endParaRPr lang="en-US" altLang="zh-CN" dirty="0"/>
          </a:p>
          <a:p>
            <a:pPr marL="0" indent="0" algn="ctr">
              <a:buNone/>
            </a:pPr>
            <a:endParaRPr lang="en-US" altLang="zh-CN" dirty="0"/>
          </a:p>
          <a:p>
            <a:pPr marL="0" indent="0" algn="ctr">
              <a:buNone/>
            </a:pPr>
            <a:r>
              <a:rPr lang="zh-CN" altLang="en-US" sz="6000" dirty="0"/>
              <a:t>谢谢观赏</a:t>
            </a:r>
          </a:p>
        </p:txBody>
      </p:sp>
    </p:spTree>
    <p:extLst>
      <p:ext uri="{BB962C8B-B14F-4D97-AF65-F5344CB8AC3E}">
        <p14:creationId xmlns:p14="http://schemas.microsoft.com/office/powerpoint/2010/main" val="354543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3">
                                            <p:txEl>
                                              <p:pRg st="3" end="3"/>
                                            </p:txEl>
                                          </p:spTgt>
                                        </p:tgtEl>
                                        <p:attrNameLst>
                                          <p:attrName>style.visibility</p:attrName>
                                        </p:attrNameLst>
                                      </p:cBhvr>
                                      <p:to>
                                        <p:strVal val="visible"/>
                                      </p:to>
                                    </p:set>
                                    <p:set>
                                      <p:cBhvr>
                                        <p:cTn id="7" dur="455" fill="hold">
                                          <p:stCondLst>
                                            <p:cond delay="0"/>
                                          </p:stCondLst>
                                        </p:cTn>
                                        <p:tgtEl>
                                          <p:spTgt spid="3">
                                            <p:txEl>
                                              <p:pRg st="3" end="3"/>
                                            </p:txEl>
                                          </p:spTgt>
                                        </p:tgtEl>
                                        <p:attrNameLst>
                                          <p:attrName>style.rotation</p:attrName>
                                        </p:attrNameLst>
                                      </p:cBhvr>
                                      <p:to>
                                        <p:strVal val="-45.0"/>
                                      </p:to>
                                    </p:set>
                                    <p:anim calcmode="lin" valueType="num">
                                      <p:cBhvr>
                                        <p:cTn id="8" dur="455" fill="hold">
                                          <p:stCondLst>
                                            <p:cond delay="455"/>
                                          </p:stCondLst>
                                        </p:cTn>
                                        <p:tgtEl>
                                          <p:spTgt spid="3">
                                            <p:txEl>
                                              <p:pRg st="3" end="3"/>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3">
                                            <p:txEl>
                                              <p:pRg st="3" end="3"/>
                                            </p:txEl>
                                          </p:spTgt>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3">
                                            <p:txEl>
                                              <p:pRg st="3" end="3"/>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3">
                                            <p:txEl>
                                              <p:pRg st="3" end="3"/>
                                            </p:txEl>
                                          </p:spTgt>
                                        </p:tgtEl>
                                        <p:attrNameLst>
                                          <p:attrName>ppt_y</p:attrName>
                                        </p:attrNameLst>
                                      </p:cBhvr>
                                      <p:tavLst>
                                        <p:tav tm="0">
                                          <p:val>
                                            <p:strVal val="#ppt_y-(0.354*#ppt_w-0.172*#ppt_h)"/>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PPLAUS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690</Words>
  <Application>Microsoft Office PowerPoint</Application>
  <PresentationFormat>宽屏</PresentationFormat>
  <Paragraphs>47</Paragraphs>
  <Slides>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vt:i4>
      </vt:variant>
    </vt:vector>
  </HeadingPairs>
  <TitlesOfParts>
    <vt:vector size="14" baseType="lpstr">
      <vt:lpstr>等线</vt:lpstr>
      <vt:lpstr>等线 Light</vt:lpstr>
      <vt:lpstr>仿宋</vt:lpstr>
      <vt:lpstr>微软雅黑</vt:lpstr>
      <vt:lpstr>Arial</vt:lpstr>
      <vt:lpstr>Office 主题​​</vt:lpstr>
      <vt:lpstr>软件181 李胤徽 2018.10.01</vt:lpstr>
      <vt:lpstr>心理健康？</vt:lpstr>
      <vt:lpstr>PowerPoint 演示文稿</vt:lpstr>
      <vt:lpstr>心理不健康的危害</vt:lpstr>
      <vt:lpstr>PowerPoint 演示文稿</vt:lpstr>
      <vt:lpstr>PowerPoint 演示文稿</vt:lpstr>
      <vt:lpstr>如何解决大学生的心理问题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胤徽</dc:creator>
  <cp:lastModifiedBy>李 胤徽</cp:lastModifiedBy>
  <cp:revision>27</cp:revision>
  <dcterms:created xsi:type="dcterms:W3CDTF">2018-09-30T07:03:20Z</dcterms:created>
  <dcterms:modified xsi:type="dcterms:W3CDTF">2018-10-03T14:57:08Z</dcterms:modified>
</cp:coreProperties>
</file>